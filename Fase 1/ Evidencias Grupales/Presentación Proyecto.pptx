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gT/I6o09rrnM3urAG/2h+G3dA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45D0A5-5363-4D67-BABE-752734FF4444}">
  <a:tblStyle styleId="{1745D0A5-5363-4D67-BABE-752734FF444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7" name="Shape 17"/>
        <p:cNvGrpSpPr/>
        <p:nvPr/>
      </p:nvGrpSpPr>
      <p:grpSpPr>
        <a:xfrm>
          <a:off x="0" y="0"/>
          <a:ext cx="0" cy="0"/>
          <a:chOff x="0" y="0"/>
          <a:chExt cx="0" cy="0"/>
        </a:xfrm>
      </p:grpSpPr>
      <p:sp>
        <p:nvSpPr>
          <p:cNvPr id="18" name="Google Shape;1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sp>
        <p:nvSpPr>
          <p:cNvPr id="23" name="Google Shape;2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4" name="Shape 34"/>
        <p:cNvGrpSpPr/>
        <p:nvPr/>
      </p:nvGrpSpPr>
      <p:grpSpPr>
        <a:xfrm>
          <a:off x="0" y="0"/>
          <a:ext cx="0" cy="0"/>
          <a:chOff x="0" y="0"/>
          <a:chExt cx="0" cy="0"/>
        </a:xfrm>
      </p:grpSpPr>
      <p:sp>
        <p:nvSpPr>
          <p:cNvPr id="35" name="Google Shape;3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1" name="Shape 41"/>
        <p:cNvGrpSpPr/>
        <p:nvPr/>
      </p:nvGrpSpPr>
      <p:grpSpPr>
        <a:xfrm>
          <a:off x="0" y="0"/>
          <a:ext cx="0" cy="0"/>
          <a:chOff x="0" y="0"/>
          <a:chExt cx="0" cy="0"/>
        </a:xfrm>
      </p:grpSpPr>
      <p:sp>
        <p:nvSpPr>
          <p:cNvPr id="42" name="Google Shape;42;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5183188" y="987425"/>
            <a:ext cx="6172200" cy="4873625"/>
          </a:xfrm>
          <a:prstGeom prst="rect">
            <a:avLst/>
          </a:prstGeom>
          <a:noFill/>
          <a:ln>
            <a:noFill/>
          </a:ln>
        </p:spPr>
      </p:sp>
      <p:sp>
        <p:nvSpPr>
          <p:cNvPr id="64" name="Google Shape;6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407886" y="1398133"/>
            <a:ext cx="9144000" cy="16208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s-CL"/>
              <a:t>Presentación Capstone</a:t>
            </a:r>
            <a:br>
              <a:rPr lang="es-CL"/>
            </a:br>
            <a:r>
              <a:rPr lang="es-CL" sz="3200"/>
              <a:t>“SISP”</a:t>
            </a:r>
            <a:endParaRPr/>
          </a:p>
        </p:txBody>
      </p:sp>
      <p:sp>
        <p:nvSpPr>
          <p:cNvPr id="85" name="Google Shape;85;p1"/>
          <p:cNvSpPr txBox="1"/>
          <p:nvPr>
            <p:ph idx="1" type="subTitle"/>
          </p:nvPr>
        </p:nvSpPr>
        <p:spPr>
          <a:xfrm>
            <a:off x="1524000" y="3562999"/>
            <a:ext cx="9144000" cy="1620837"/>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None/>
            </a:pPr>
            <a:r>
              <a:rPr lang="es-CL" sz="3200"/>
              <a:t>Ingeniería Informática</a:t>
            </a:r>
            <a:endParaRPr/>
          </a:p>
          <a:p>
            <a:pPr indent="0" lvl="0" marL="0" rtl="0" algn="ctr">
              <a:lnSpc>
                <a:spcPct val="90000"/>
              </a:lnSpc>
              <a:spcBef>
                <a:spcPts val="1000"/>
              </a:spcBef>
              <a:spcAft>
                <a:spcPts val="0"/>
              </a:spcAft>
              <a:buClr>
                <a:schemeClr val="dk1"/>
              </a:buClr>
              <a:buSzPts val="1400"/>
              <a:buNone/>
            </a:pPr>
            <a:r>
              <a:rPr lang="es-CL" sz="1400"/>
              <a:t>Escuela de Informática y Telecomunicaciones</a:t>
            </a:r>
            <a:endParaRPr/>
          </a:p>
          <a:p>
            <a:pPr indent="0" lvl="0" marL="0" rtl="0" algn="ctr">
              <a:lnSpc>
                <a:spcPct val="90000"/>
              </a:lnSpc>
              <a:spcBef>
                <a:spcPts val="1000"/>
              </a:spcBef>
              <a:spcAft>
                <a:spcPts val="0"/>
              </a:spcAft>
              <a:buClr>
                <a:schemeClr val="dk1"/>
              </a:buClr>
              <a:buSzPts val="1400"/>
              <a:buNone/>
            </a:pPr>
            <a:r>
              <a:rPr lang="es-CL" sz="1400"/>
              <a:t>Sede Puente Alto </a:t>
            </a:r>
            <a:endParaRPr sz="1400"/>
          </a:p>
          <a:p>
            <a:pPr indent="0" lvl="0" marL="0" rtl="0" algn="ctr">
              <a:lnSpc>
                <a:spcPct val="90000"/>
              </a:lnSpc>
              <a:spcBef>
                <a:spcPts val="1000"/>
              </a:spcBef>
              <a:spcAft>
                <a:spcPts val="0"/>
              </a:spcAft>
              <a:buClr>
                <a:schemeClr val="dk1"/>
              </a:buClr>
              <a:buSzPts val="1400"/>
              <a:buNone/>
            </a:pPr>
            <a:r>
              <a:rPr lang="es-CL" sz="1400"/>
              <a:t>2025</a:t>
            </a:r>
            <a:endParaRPr/>
          </a:p>
          <a:p>
            <a:pPr indent="0" lvl="0" marL="0" rtl="0" algn="ctr">
              <a:lnSpc>
                <a:spcPct val="90000"/>
              </a:lnSpc>
              <a:spcBef>
                <a:spcPts val="1000"/>
              </a:spcBef>
              <a:spcAft>
                <a:spcPts val="0"/>
              </a:spcAft>
              <a:buClr>
                <a:schemeClr val="dk1"/>
              </a:buClr>
              <a:buSzPts val="1400"/>
              <a:buNone/>
            </a:pPr>
            <a:r>
              <a:t/>
            </a:r>
            <a:endParaRPr sz="1400"/>
          </a:p>
          <a:p>
            <a:pPr indent="0" lvl="0" marL="0" rtl="0" algn="ctr">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555827" y="2315666"/>
            <a:ext cx="2993823"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INTEGRANTES DEL PROYECTO</a:t>
            </a:r>
            <a:endParaRPr b="0" i="0" sz="1800" u="none" cap="none" strike="noStrike">
              <a:solidFill>
                <a:schemeClr val="dk1"/>
              </a:solidFill>
              <a:latin typeface="Calibri"/>
              <a:ea typeface="Calibri"/>
              <a:cs typeface="Calibri"/>
              <a:sym typeface="Calibri"/>
            </a:endParaRPr>
          </a:p>
        </p:txBody>
      </p:sp>
      <p:grpSp>
        <p:nvGrpSpPr>
          <p:cNvPr id="91" name="Google Shape;91;p2"/>
          <p:cNvGrpSpPr/>
          <p:nvPr/>
        </p:nvGrpSpPr>
        <p:grpSpPr>
          <a:xfrm>
            <a:off x="4082926" y="1382434"/>
            <a:ext cx="6781052" cy="3415887"/>
            <a:chOff x="0" y="0"/>
            <a:chExt cx="6781052" cy="3415887"/>
          </a:xfrm>
        </p:grpSpPr>
        <p:sp>
          <p:nvSpPr>
            <p:cNvPr id="92" name="Google Shape;92;p2"/>
            <p:cNvSpPr/>
            <p:nvPr/>
          </p:nvSpPr>
          <p:spPr>
            <a:xfrm>
              <a:off x="0" y="0"/>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txBox="1"/>
            <p:nvPr/>
          </p:nvSpPr>
          <p:spPr>
            <a:xfrm>
              <a:off x="1462952" y="0"/>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Alan Moreno</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Desarrollador</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94" name="Google Shape;94;p2"/>
            <p:cNvSpPr/>
            <p:nvPr/>
          </p:nvSpPr>
          <p:spPr>
            <a:xfrm>
              <a:off x="106749" y="106749"/>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0" y="1174243"/>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txBox="1"/>
            <p:nvPr/>
          </p:nvSpPr>
          <p:spPr>
            <a:xfrm>
              <a:off x="1462952" y="1174243"/>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Alex Pavez</a:t>
              </a:r>
              <a:endParaRPr b="0" i="0" sz="2100" u="none" cap="none" strike="noStrike">
                <a:solidFill>
                  <a:schemeClr val="lt1"/>
                </a:solidFill>
                <a:latin typeface="Calibri"/>
                <a:ea typeface="Calibri"/>
                <a:cs typeface="Calibri"/>
                <a:sym typeface="Calibri"/>
              </a:endParaRPr>
            </a:p>
            <a:p>
              <a:pPr indent="-171450" lvl="1" marL="171450" marR="0" rtl="0" algn="l">
                <a:lnSpc>
                  <a:spcPct val="90000"/>
                </a:lnSpc>
                <a:spcBef>
                  <a:spcPts val="735"/>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Cargo</a:t>
              </a:r>
              <a:endParaRPr b="0" i="0" sz="1600" u="none" cap="none" strike="noStrike">
                <a:solidFill>
                  <a:schemeClr val="lt1"/>
                </a:solidFill>
                <a:latin typeface="Calibri"/>
                <a:ea typeface="Calibri"/>
                <a:cs typeface="Calibri"/>
                <a:sym typeface="Calibri"/>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b="0" i="0" sz="1600" u="none" cap="none" strike="noStrike">
                <a:solidFill>
                  <a:schemeClr val="lt1"/>
                </a:solidFill>
                <a:latin typeface="Calibri"/>
                <a:ea typeface="Calibri"/>
                <a:cs typeface="Calibri"/>
                <a:sym typeface="Calibri"/>
              </a:endParaRPr>
            </a:p>
          </p:txBody>
        </p:sp>
        <p:sp>
          <p:nvSpPr>
            <p:cNvPr id="97" name="Google Shape;97;p2"/>
            <p:cNvSpPr/>
            <p:nvPr/>
          </p:nvSpPr>
          <p:spPr>
            <a:xfrm>
              <a:off x="106749" y="1280992"/>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0" y="2348487"/>
              <a:ext cx="6780900" cy="1067400"/>
            </a:xfrm>
            <a:prstGeom prst="roundRect">
              <a:avLst>
                <a:gd fmla="val 10000" name="adj"/>
              </a:avLst>
            </a:prstGeom>
            <a:gradFill>
              <a:gsLst>
                <a:gs pos="0">
                  <a:srgbClr val="5E81C9"/>
                </a:gs>
                <a:gs pos="50000">
                  <a:srgbClr val="3B70C9"/>
                </a:gs>
                <a:gs pos="100000">
                  <a:srgbClr val="2E60B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txBox="1"/>
            <p:nvPr/>
          </p:nvSpPr>
          <p:spPr>
            <a:xfrm>
              <a:off x="1462952" y="2348487"/>
              <a:ext cx="5318100" cy="1067400"/>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lt1"/>
                </a:buClr>
                <a:buSzPts val="2100"/>
                <a:buFont typeface="Calibri"/>
                <a:buNone/>
              </a:pPr>
              <a:r>
                <a:rPr lang="es-CL" sz="2100">
                  <a:solidFill>
                    <a:schemeClr val="lt1"/>
                  </a:solidFill>
                  <a:latin typeface="Calibri"/>
                  <a:ea typeface="Calibri"/>
                  <a:cs typeface="Calibri"/>
                  <a:sym typeface="Calibri"/>
                </a:rPr>
                <a:t>Alex Oliva</a:t>
              </a:r>
              <a:endParaRPr/>
            </a:p>
            <a:p>
              <a:pPr indent="-171450" lvl="1" marL="171450" marR="0" rtl="0" algn="l">
                <a:lnSpc>
                  <a:spcPct val="90000"/>
                </a:lnSpc>
                <a:spcBef>
                  <a:spcPts val="735"/>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Cargo</a:t>
              </a:r>
              <a:endParaRPr/>
            </a:p>
            <a:p>
              <a:pPr indent="-171450" lvl="1" marL="171450" marR="0" rtl="0" algn="l">
                <a:lnSpc>
                  <a:spcPct val="90000"/>
                </a:lnSpc>
                <a:spcBef>
                  <a:spcPts val="240"/>
                </a:spcBef>
                <a:spcAft>
                  <a:spcPts val="0"/>
                </a:spcAft>
                <a:buClr>
                  <a:schemeClr val="lt1"/>
                </a:buClr>
                <a:buSzPts val="1600"/>
                <a:buFont typeface="Calibri"/>
                <a:buChar char="•"/>
              </a:pPr>
              <a:r>
                <a:rPr b="0" i="0" lang="es-CL" sz="1600" u="none" cap="none" strike="noStrike">
                  <a:solidFill>
                    <a:schemeClr val="lt1"/>
                  </a:solidFill>
                  <a:latin typeface="Calibri"/>
                  <a:ea typeface="Calibri"/>
                  <a:cs typeface="Calibri"/>
                  <a:sym typeface="Calibri"/>
                </a:rPr>
                <a:t>Funciones desempeñadas</a:t>
              </a:r>
              <a:endParaRPr/>
            </a:p>
          </p:txBody>
        </p:sp>
        <p:sp>
          <p:nvSpPr>
            <p:cNvPr id="100" name="Google Shape;100;p2"/>
            <p:cNvSpPr/>
            <p:nvPr/>
          </p:nvSpPr>
          <p:spPr>
            <a:xfrm>
              <a:off x="106749" y="2455236"/>
              <a:ext cx="1356300" cy="854100"/>
            </a:xfrm>
            <a:prstGeom prst="roundRect">
              <a:avLst>
                <a:gd fmla="val 10000" name="adj"/>
              </a:avLst>
            </a:prstGeom>
            <a:solidFill>
              <a:srgbClr val="BFC8E3"/>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725659" y="1110713"/>
            <a:ext cx="10515600" cy="7180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Descripción del Proyecto</a:t>
            </a:r>
            <a:endParaRPr/>
          </a:p>
        </p:txBody>
      </p:sp>
      <p:sp>
        <p:nvSpPr>
          <p:cNvPr id="106" name="Google Shape;106;p3"/>
          <p:cNvSpPr/>
          <p:nvPr/>
        </p:nvSpPr>
        <p:spPr>
          <a:xfrm>
            <a:off x="714909" y="2169769"/>
            <a:ext cx="4427360" cy="409260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Problema o dolor</a:t>
            </a:r>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La fragmentación y el acceso a la información de salud pública en Chile. Actualmente, los usuarios enfrentan problemas para localizar medicamentos y horas médicas.</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A su vez, los proveedores de salud (pequeñas farmacias y centros médicos) carecen de herramientas digitales unificadas para gestionar sus inventarios y agendas de manera eficiente.</a:t>
            </a:r>
            <a:endParaRPr sz="18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p:txBody>
      </p:sp>
      <p:sp>
        <p:nvSpPr>
          <p:cNvPr id="107" name="Google Shape;107;p3"/>
          <p:cNvSpPr/>
          <p:nvPr/>
        </p:nvSpPr>
        <p:spPr>
          <a:xfrm>
            <a:off x="6912079" y="2177325"/>
            <a:ext cx="4641292" cy="4092601"/>
          </a:xfrm>
          <a:prstGeom prst="roundRect">
            <a:avLst>
              <a:gd fmla="val 10901" name="adj"/>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s-CL" sz="2800" u="sng" cap="none" strike="noStrike">
                <a:solidFill>
                  <a:schemeClr val="dk1"/>
                </a:solidFill>
                <a:latin typeface="Calibri"/>
                <a:ea typeface="Calibri"/>
                <a:cs typeface="Calibri"/>
                <a:sym typeface="Calibri"/>
              </a:rPr>
              <a:t>Propuesta de solución</a:t>
            </a:r>
            <a:endParaRPr/>
          </a:p>
          <a:p>
            <a:pPr indent="0" lvl="0" marL="0" marR="0" rtl="0" algn="ctr">
              <a:spcBef>
                <a:spcPts val="0"/>
              </a:spcBef>
              <a:spcAft>
                <a:spcPts val="0"/>
              </a:spcAft>
              <a:buNone/>
            </a:pPr>
            <a:r>
              <a:t/>
            </a:r>
            <a:endParaRPr b="0" i="0" sz="1800" u="sng"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Plataforma </a:t>
            </a:r>
            <a:r>
              <a:rPr lang="es-CL" sz="1800">
                <a:solidFill>
                  <a:schemeClr val="dk1"/>
                </a:solidFill>
                <a:latin typeface="Calibri"/>
                <a:ea typeface="Calibri"/>
                <a:cs typeface="Calibri"/>
                <a:sym typeface="Calibri"/>
              </a:rPr>
              <a:t>móvil</a:t>
            </a:r>
            <a:r>
              <a:rPr lang="es-CL" sz="1800">
                <a:solidFill>
                  <a:schemeClr val="dk1"/>
                </a:solidFill>
                <a:latin typeface="Calibri"/>
                <a:ea typeface="Calibri"/>
                <a:cs typeface="Calibri"/>
                <a:sym typeface="Calibri"/>
              </a:rPr>
              <a:t> que integra:</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just">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Venta de medicamentos en </a:t>
            </a:r>
            <a:r>
              <a:rPr lang="es-CL" sz="1800">
                <a:solidFill>
                  <a:schemeClr val="dk1"/>
                </a:solidFill>
                <a:latin typeface="Calibri"/>
                <a:ea typeface="Calibri"/>
                <a:cs typeface="Calibri"/>
                <a:sym typeface="Calibri"/>
              </a:rPr>
              <a:t>línea</a:t>
            </a:r>
            <a:endParaRPr sz="1800">
              <a:solidFill>
                <a:schemeClr val="dk1"/>
              </a:solidFill>
              <a:latin typeface="Calibri"/>
              <a:ea typeface="Calibri"/>
              <a:cs typeface="Calibri"/>
              <a:sym typeface="Calibri"/>
            </a:endParaRPr>
          </a:p>
          <a:p>
            <a:pPr indent="0" lvl="0" marL="457200" marR="0" rtl="0" algn="just">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just">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Agendar horas </a:t>
            </a:r>
            <a:r>
              <a:rPr lang="es-CL" sz="1800">
                <a:solidFill>
                  <a:schemeClr val="dk1"/>
                </a:solidFill>
                <a:latin typeface="Calibri"/>
                <a:ea typeface="Calibri"/>
                <a:cs typeface="Calibri"/>
                <a:sym typeface="Calibri"/>
              </a:rPr>
              <a:t>médicas</a:t>
            </a:r>
            <a:r>
              <a:rPr lang="es-CL" sz="1800">
                <a:solidFill>
                  <a:schemeClr val="dk1"/>
                </a:solidFill>
                <a:latin typeface="Calibri"/>
                <a:ea typeface="Calibri"/>
                <a:cs typeface="Calibri"/>
                <a:sym typeface="Calibri"/>
              </a:rPr>
              <a:t> de manera remota</a:t>
            </a:r>
            <a:endParaRPr sz="1800">
              <a:solidFill>
                <a:schemeClr val="dk1"/>
              </a:solidFill>
              <a:latin typeface="Calibri"/>
              <a:ea typeface="Calibri"/>
              <a:cs typeface="Calibri"/>
              <a:sym typeface="Calibri"/>
            </a:endParaRPr>
          </a:p>
          <a:p>
            <a:pPr indent="0" lvl="0" marL="457200" marR="0" rtl="0" algn="just">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just">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(Futuro) Chatbot que permita ayudar a un flujo </a:t>
            </a:r>
            <a:r>
              <a:rPr lang="es-CL" sz="1800">
                <a:solidFill>
                  <a:schemeClr val="dk1"/>
                </a:solidFill>
                <a:latin typeface="Calibri"/>
                <a:ea typeface="Calibri"/>
                <a:cs typeface="Calibri"/>
                <a:sym typeface="Calibri"/>
              </a:rPr>
              <a:t>más</a:t>
            </a:r>
            <a:r>
              <a:rPr lang="es-CL" sz="1800">
                <a:solidFill>
                  <a:schemeClr val="dk1"/>
                </a:solidFill>
                <a:latin typeface="Calibri"/>
                <a:ea typeface="Calibri"/>
                <a:cs typeface="Calibri"/>
                <a:sym typeface="Calibri"/>
              </a:rPr>
              <a:t> sencillo</a:t>
            </a:r>
            <a:endParaRPr sz="1800">
              <a:solidFill>
                <a:schemeClr val="dk1"/>
              </a:solidFill>
              <a:latin typeface="Calibri"/>
              <a:ea typeface="Calibri"/>
              <a:cs typeface="Calibri"/>
              <a:sym typeface="Calibri"/>
            </a:endParaRPr>
          </a:p>
        </p:txBody>
      </p:sp>
      <p:sp>
        <p:nvSpPr>
          <p:cNvPr id="108" name="Google Shape;108;p3"/>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p:nvPr/>
        </p:nvSpPr>
        <p:spPr>
          <a:xfrm>
            <a:off x="614515" y="2040571"/>
            <a:ext cx="10962967" cy="1575221"/>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CL" sz="1800">
                <a:solidFill>
                  <a:schemeClr val="dk1"/>
                </a:solidFill>
                <a:latin typeface="Calibri"/>
                <a:ea typeface="Calibri"/>
                <a:cs typeface="Calibri"/>
                <a:sym typeface="Calibri"/>
              </a:rPr>
              <a:t>Desarrollar un sistema que </a:t>
            </a:r>
            <a:r>
              <a:rPr lang="es-CL" sz="1800">
                <a:solidFill>
                  <a:schemeClr val="dk1"/>
                </a:solidFill>
                <a:latin typeface="Calibri"/>
                <a:ea typeface="Calibri"/>
                <a:cs typeface="Calibri"/>
                <a:sym typeface="Calibri"/>
              </a:rPr>
              <a:t>centralice</a:t>
            </a:r>
            <a:r>
              <a:rPr lang="es-CL" sz="1800">
                <a:solidFill>
                  <a:schemeClr val="dk1"/>
                </a:solidFill>
                <a:latin typeface="Calibri"/>
                <a:ea typeface="Calibri"/>
                <a:cs typeface="Calibri"/>
                <a:sym typeface="Calibri"/>
              </a:rPr>
              <a:t> todos los centros de salud solo en un pequeño dispositivo y que facilite el acceso a estos mismos, ya sea agendado hora de manera online o comprando medicamentos y herramientas de gestión administrativa para proveedores de salud.</a:t>
            </a:r>
            <a:endParaRPr b="0" i="0" sz="1800" u="none" cap="none" strike="noStrike">
              <a:solidFill>
                <a:schemeClr val="dk1"/>
              </a:solidFill>
              <a:latin typeface="Calibri"/>
              <a:ea typeface="Calibri"/>
              <a:cs typeface="Calibri"/>
              <a:sym typeface="Calibri"/>
            </a:endParaRPr>
          </a:p>
        </p:txBody>
      </p:sp>
      <p:sp>
        <p:nvSpPr>
          <p:cNvPr id="114" name="Google Shape;114;p4"/>
          <p:cNvSpPr/>
          <p:nvPr/>
        </p:nvSpPr>
        <p:spPr>
          <a:xfrm>
            <a:off x="614514" y="4732407"/>
            <a:ext cx="10962900" cy="15753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CL" sz="1800">
                <a:solidFill>
                  <a:schemeClr val="dk1"/>
                </a:solidFill>
                <a:latin typeface="Calibri"/>
                <a:ea typeface="Calibri"/>
                <a:cs typeface="Calibri"/>
                <a:sym typeface="Calibri"/>
              </a:rPr>
              <a:t>Desarrollar un portal web administrativo seguro utilizando el framework Django que permita a dueños de farmacias y administradores de centros de salud gestionar roles, inventarios de medicamentos, colaboradores y agendas médicas. Simultáneamente, implementar en la aplicación móvil un motor de búsqueda eficiente con mapas interactivos para mejorar la experiencia del paciente, respaldado por una arquitectura serverless en Cloud Functions que garantice la seguridad en las transacciones de pago con Transbank.</a:t>
            </a:r>
            <a:endParaRPr b="0" i="0" sz="1800" u="none" cap="none" strike="noStrike">
              <a:solidFill>
                <a:schemeClr val="dk1"/>
              </a:solidFill>
              <a:latin typeface="Calibri"/>
              <a:ea typeface="Calibri"/>
              <a:cs typeface="Calibri"/>
              <a:sym typeface="Calibri"/>
            </a:endParaRPr>
          </a:p>
        </p:txBody>
      </p:sp>
      <p:sp>
        <p:nvSpPr>
          <p:cNvPr id="115" name="Google Shape;115;p4"/>
          <p:cNvSpPr txBox="1"/>
          <p:nvPr/>
        </p:nvSpPr>
        <p:spPr>
          <a:xfrm>
            <a:off x="152400" y="1197198"/>
            <a:ext cx="11938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 General</a:t>
            </a:r>
            <a:endParaRPr b="0" i="0" sz="1800" u="none" cap="none" strike="noStrike">
              <a:solidFill>
                <a:schemeClr val="dk1"/>
              </a:solidFill>
              <a:latin typeface="Calibri"/>
              <a:ea typeface="Calibri"/>
              <a:cs typeface="Calibri"/>
              <a:sym typeface="Calibri"/>
            </a:endParaRPr>
          </a:p>
        </p:txBody>
      </p:sp>
      <p:sp>
        <p:nvSpPr>
          <p:cNvPr id="116" name="Google Shape;116;p4"/>
          <p:cNvSpPr txBox="1"/>
          <p:nvPr/>
        </p:nvSpPr>
        <p:spPr>
          <a:xfrm>
            <a:off x="152400" y="4009875"/>
            <a:ext cx="119380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3600" u="none" cap="none" strike="noStrike">
                <a:solidFill>
                  <a:schemeClr val="dk1"/>
                </a:solidFill>
                <a:latin typeface="Calibri"/>
                <a:ea typeface="Calibri"/>
                <a:cs typeface="Calibri"/>
                <a:sym typeface="Calibri"/>
              </a:rPr>
              <a:t>Objetivos Específicos</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810065" y="809447"/>
            <a:ext cx="10515600" cy="750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Alcances</a:t>
            </a:r>
            <a:endParaRPr/>
          </a:p>
        </p:txBody>
      </p:sp>
      <p:sp>
        <p:nvSpPr>
          <p:cNvPr id="122" name="Google Shape;122;p5"/>
          <p:cNvSpPr txBox="1"/>
          <p:nvPr/>
        </p:nvSpPr>
        <p:spPr>
          <a:xfrm>
            <a:off x="1059600" y="1560350"/>
            <a:ext cx="10072800" cy="557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CL" sz="1800" u="none" cap="none" strike="noStrike">
                <a:solidFill>
                  <a:schemeClr val="dk1"/>
                </a:solidFill>
                <a:latin typeface="Calibri"/>
                <a:ea typeface="Calibri"/>
                <a:cs typeface="Calibri"/>
                <a:sym typeface="Calibri"/>
              </a:rPr>
              <a:t>Que hace el Sistema:</a:t>
            </a:r>
            <a:endParaRPr b="1" i="0" sz="1800" u="none" cap="none" strike="noStrike">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Mapa interactivo con hospitales en turno y </a:t>
            </a:r>
            <a:r>
              <a:rPr lang="es-CL" sz="1800">
                <a:solidFill>
                  <a:schemeClr val="dk1"/>
                </a:solidFill>
                <a:latin typeface="Calibri"/>
                <a:ea typeface="Calibri"/>
                <a:cs typeface="Calibri"/>
                <a:sym typeface="Calibri"/>
              </a:rPr>
              <a:t>visualización</a:t>
            </a:r>
            <a:r>
              <a:rPr lang="es-CL" sz="1800">
                <a:solidFill>
                  <a:schemeClr val="dk1"/>
                </a:solidFill>
                <a:latin typeface="Calibri"/>
                <a:ea typeface="Calibri"/>
                <a:cs typeface="Calibri"/>
                <a:sym typeface="Calibri"/>
              </a:rPr>
              <a:t> de estos junto con sus horarios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Reserva de horas </a:t>
            </a:r>
            <a:r>
              <a:rPr lang="es-CL" sz="1800">
                <a:solidFill>
                  <a:schemeClr val="dk1"/>
                </a:solidFill>
                <a:latin typeface="Calibri"/>
                <a:ea typeface="Calibri"/>
                <a:cs typeface="Calibri"/>
                <a:sym typeface="Calibri"/>
              </a:rPr>
              <a:t>médicas</a:t>
            </a:r>
            <a:r>
              <a:rPr lang="es-CL" sz="1800">
                <a:solidFill>
                  <a:schemeClr val="dk1"/>
                </a:solidFill>
                <a:latin typeface="Calibri"/>
                <a:ea typeface="Calibri"/>
                <a:cs typeface="Calibri"/>
                <a:sym typeface="Calibri"/>
              </a:rPr>
              <a:t> desde la comodidad de la casa</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Garantiza un ahorro de tiempo bastante importante en la reserva de horas </a:t>
            </a:r>
            <a:r>
              <a:rPr lang="es-CL" sz="1800">
                <a:solidFill>
                  <a:schemeClr val="dk1"/>
                </a:solidFill>
                <a:latin typeface="Calibri"/>
                <a:ea typeface="Calibri"/>
                <a:cs typeface="Calibri"/>
                <a:sym typeface="Calibri"/>
              </a:rPr>
              <a:t>médicas</a:t>
            </a:r>
            <a:r>
              <a:rPr lang="es-CL" sz="1800">
                <a:solidFill>
                  <a:schemeClr val="dk1"/>
                </a:solidFill>
                <a:latin typeface="Calibri"/>
                <a:ea typeface="Calibri"/>
                <a:cs typeface="Calibri"/>
                <a:sym typeface="Calibri"/>
              </a:rPr>
              <a:t> y en la compra de medicamentos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Se garantiza realizar reservas </a:t>
            </a:r>
            <a:r>
              <a:rPr lang="es-CL" sz="1800">
                <a:solidFill>
                  <a:schemeClr val="dk1"/>
                </a:solidFill>
                <a:latin typeface="Calibri"/>
                <a:ea typeface="Calibri"/>
                <a:cs typeface="Calibri"/>
                <a:sym typeface="Calibri"/>
              </a:rPr>
              <a:t>médicas</a:t>
            </a:r>
            <a:r>
              <a:rPr lang="es-CL" sz="1800">
                <a:solidFill>
                  <a:schemeClr val="dk1"/>
                </a:solidFill>
                <a:latin typeface="Calibri"/>
                <a:ea typeface="Calibri"/>
                <a:cs typeface="Calibri"/>
                <a:sym typeface="Calibri"/>
              </a:rPr>
              <a:t> de manera </a:t>
            </a:r>
            <a:r>
              <a:rPr lang="es-CL" sz="1800">
                <a:solidFill>
                  <a:schemeClr val="dk1"/>
                </a:solidFill>
                <a:latin typeface="Calibri"/>
                <a:ea typeface="Calibri"/>
                <a:cs typeface="Calibri"/>
                <a:sym typeface="Calibri"/>
              </a:rPr>
              <a:t>más</a:t>
            </a:r>
            <a:r>
              <a:rPr lang="es-CL" sz="1800">
                <a:solidFill>
                  <a:schemeClr val="dk1"/>
                </a:solidFill>
                <a:latin typeface="Calibri"/>
                <a:ea typeface="Calibri"/>
                <a:cs typeface="Calibri"/>
                <a:sym typeface="Calibri"/>
              </a:rPr>
              <a:t> optimizada y de manera intermitente.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búsqueda</a:t>
            </a:r>
            <a:r>
              <a:rPr lang="es-CL" sz="1800">
                <a:solidFill>
                  <a:schemeClr val="dk1"/>
                </a:solidFill>
                <a:latin typeface="Calibri"/>
                <a:ea typeface="Calibri"/>
                <a:cs typeface="Calibri"/>
                <a:sym typeface="Calibri"/>
              </a:rPr>
              <a:t> de medicamentos filtrados por precio más bajo o cercania y compra de los mismos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Datos </a:t>
            </a:r>
            <a:r>
              <a:rPr lang="es-CL" sz="1800">
                <a:solidFill>
                  <a:schemeClr val="dk1"/>
                </a:solidFill>
                <a:latin typeface="Calibri"/>
                <a:ea typeface="Calibri"/>
                <a:cs typeface="Calibri"/>
                <a:sym typeface="Calibri"/>
              </a:rPr>
              <a:t>georreferenciados</a:t>
            </a:r>
            <a:r>
              <a:rPr lang="es-CL" sz="1800">
                <a:solidFill>
                  <a:schemeClr val="dk1"/>
                </a:solidFill>
                <a:latin typeface="Calibri"/>
                <a:ea typeface="Calibri"/>
                <a:cs typeface="Calibri"/>
                <a:sym typeface="Calibri"/>
              </a:rPr>
              <a:t> (Se basa en la </a:t>
            </a:r>
            <a:r>
              <a:rPr lang="es-CL" sz="1800">
                <a:solidFill>
                  <a:schemeClr val="dk1"/>
                </a:solidFill>
                <a:latin typeface="Calibri"/>
                <a:ea typeface="Calibri"/>
                <a:cs typeface="Calibri"/>
                <a:sym typeface="Calibri"/>
              </a:rPr>
              <a:t>ubicación</a:t>
            </a:r>
            <a:r>
              <a:rPr lang="es-CL" sz="1800">
                <a:solidFill>
                  <a:schemeClr val="dk1"/>
                </a:solidFill>
                <a:latin typeface="Calibri"/>
                <a:ea typeface="Calibri"/>
                <a:cs typeface="Calibri"/>
                <a:sym typeface="Calibri"/>
              </a:rPr>
              <a:t> del </a:t>
            </a:r>
            <a:r>
              <a:rPr lang="es-CL" sz="1800">
                <a:solidFill>
                  <a:schemeClr val="dk1"/>
                </a:solidFill>
                <a:latin typeface="Calibri"/>
                <a:ea typeface="Calibri"/>
                <a:cs typeface="Calibri"/>
                <a:sym typeface="Calibri"/>
              </a:rPr>
              <a:t>ciudadano para buscar el centro de salud más cercano</a:t>
            </a:r>
            <a:r>
              <a:rPr lang="es-CL"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Historial de compras y de reserva de horas de manera mucho </a:t>
            </a:r>
            <a:r>
              <a:rPr lang="es-CL" sz="1800">
                <a:solidFill>
                  <a:schemeClr val="dk1"/>
                </a:solidFill>
                <a:latin typeface="Calibri"/>
                <a:ea typeface="Calibri"/>
                <a:cs typeface="Calibri"/>
                <a:sym typeface="Calibri"/>
              </a:rPr>
              <a:t>más</a:t>
            </a:r>
            <a:r>
              <a:rPr lang="es-CL" sz="1800">
                <a:solidFill>
                  <a:schemeClr val="dk1"/>
                </a:solidFill>
                <a:latin typeface="Calibri"/>
                <a:ea typeface="Calibri"/>
                <a:cs typeface="Calibri"/>
                <a:sym typeface="Calibri"/>
              </a:rPr>
              <a:t> accesible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s-CL" sz="1800">
                <a:solidFill>
                  <a:schemeClr val="dk1"/>
                </a:solidFill>
                <a:latin typeface="Calibri"/>
                <a:ea typeface="Calibri"/>
                <a:cs typeface="Calibri"/>
                <a:sym typeface="Calibri"/>
              </a:rPr>
              <a:t>Qué no hace:</a:t>
            </a:r>
            <a:endParaRPr b="1"/>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se realizan </a:t>
            </a:r>
            <a:r>
              <a:rPr lang="es-CL" sz="1800">
                <a:solidFill>
                  <a:schemeClr val="dk1"/>
                </a:solidFill>
                <a:latin typeface="Calibri"/>
                <a:ea typeface="Calibri"/>
                <a:cs typeface="Calibri"/>
                <a:sym typeface="Calibri"/>
              </a:rPr>
              <a:t>diagnósticos</a:t>
            </a:r>
            <a:r>
              <a:rPr lang="es-CL" sz="1800">
                <a:solidFill>
                  <a:schemeClr val="dk1"/>
                </a:solidFill>
                <a:latin typeface="Calibri"/>
                <a:ea typeface="Calibri"/>
                <a:cs typeface="Calibri"/>
                <a:sym typeface="Calibri"/>
              </a:rPr>
              <a:t> </a:t>
            </a:r>
            <a:r>
              <a:rPr lang="es-CL" sz="1800">
                <a:solidFill>
                  <a:schemeClr val="dk1"/>
                </a:solidFill>
                <a:latin typeface="Calibri"/>
                <a:ea typeface="Calibri"/>
                <a:cs typeface="Calibri"/>
                <a:sym typeface="Calibri"/>
              </a:rPr>
              <a:t>médicos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prescribe medicamentos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reemplaza la consulta </a:t>
            </a:r>
            <a:r>
              <a:rPr lang="es-CL" sz="1800">
                <a:solidFill>
                  <a:schemeClr val="dk1"/>
                </a:solidFill>
                <a:latin typeface="Calibri"/>
                <a:ea typeface="Calibri"/>
                <a:cs typeface="Calibri"/>
                <a:sym typeface="Calibri"/>
              </a:rPr>
              <a:t>médica</a:t>
            </a:r>
            <a:r>
              <a:rPr lang="es-CL" sz="1800">
                <a:solidFill>
                  <a:schemeClr val="dk1"/>
                </a:solidFill>
                <a:latin typeface="Calibri"/>
                <a:ea typeface="Calibri"/>
                <a:cs typeface="Calibri"/>
                <a:sym typeface="Calibri"/>
              </a:rPr>
              <a:t> presencial</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mejora el flujo de </a:t>
            </a:r>
            <a:r>
              <a:rPr lang="es-CL" sz="1800">
                <a:solidFill>
                  <a:schemeClr val="dk1"/>
                </a:solidFill>
                <a:latin typeface="Calibri"/>
                <a:ea typeface="Calibri"/>
                <a:cs typeface="Calibri"/>
                <a:sym typeface="Calibri"/>
              </a:rPr>
              <a:t>atención</a:t>
            </a:r>
            <a:r>
              <a:rPr lang="es-CL" sz="1800">
                <a:solidFill>
                  <a:schemeClr val="dk1"/>
                </a:solidFill>
                <a:latin typeface="Calibri"/>
                <a:ea typeface="Calibri"/>
                <a:cs typeface="Calibri"/>
                <a:sym typeface="Calibri"/>
              </a:rPr>
              <a:t> </a:t>
            </a:r>
            <a:r>
              <a:rPr lang="es-CL" sz="1800">
                <a:solidFill>
                  <a:schemeClr val="dk1"/>
                </a:solidFill>
                <a:latin typeface="Calibri"/>
                <a:ea typeface="Calibri"/>
                <a:cs typeface="Calibri"/>
                <a:sym typeface="Calibri"/>
              </a:rPr>
              <a:t>médica</a:t>
            </a:r>
            <a:r>
              <a:rPr lang="es-CL" sz="1800">
                <a:solidFill>
                  <a:schemeClr val="dk1"/>
                </a:solidFill>
                <a:latin typeface="Calibri"/>
                <a:ea typeface="Calibri"/>
                <a:cs typeface="Calibri"/>
                <a:sym typeface="Calibri"/>
              </a:rPr>
              <a:t>, solo lo optimiza</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garantiza que el ciudadano </a:t>
            </a:r>
            <a:r>
              <a:rPr lang="es-CL" sz="1800">
                <a:solidFill>
                  <a:schemeClr val="dk1"/>
                </a:solidFill>
                <a:latin typeface="Calibri"/>
                <a:ea typeface="Calibri"/>
                <a:cs typeface="Calibri"/>
                <a:sym typeface="Calibri"/>
              </a:rPr>
              <a:t>será</a:t>
            </a:r>
            <a:r>
              <a:rPr lang="es-CL" sz="1800">
                <a:solidFill>
                  <a:schemeClr val="dk1"/>
                </a:solidFill>
                <a:latin typeface="Calibri"/>
                <a:ea typeface="Calibri"/>
                <a:cs typeface="Calibri"/>
                <a:sym typeface="Calibri"/>
              </a:rPr>
              <a:t> atendido </a:t>
            </a:r>
            <a:r>
              <a:rPr lang="es-CL" sz="1800">
                <a:solidFill>
                  <a:schemeClr val="dk1"/>
                </a:solidFill>
                <a:latin typeface="Calibri"/>
                <a:ea typeface="Calibri"/>
                <a:cs typeface="Calibri"/>
                <a:sym typeface="Calibri"/>
              </a:rPr>
              <a:t>más</a:t>
            </a:r>
            <a:r>
              <a:rPr lang="es-CL" sz="1800">
                <a:solidFill>
                  <a:schemeClr val="dk1"/>
                </a:solidFill>
                <a:latin typeface="Calibri"/>
                <a:ea typeface="Calibri"/>
                <a:cs typeface="Calibri"/>
                <a:sym typeface="Calibri"/>
              </a:rPr>
              <a:t> </a:t>
            </a:r>
            <a:r>
              <a:rPr lang="es-CL" sz="1800">
                <a:solidFill>
                  <a:schemeClr val="dk1"/>
                </a:solidFill>
                <a:latin typeface="Calibri"/>
                <a:ea typeface="Calibri"/>
                <a:cs typeface="Calibri"/>
                <a:sym typeface="Calibri"/>
              </a:rPr>
              <a:t>rápido, sol garantiza la reserva de hora de manera mas comoda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type="title"/>
          </p:nvPr>
        </p:nvSpPr>
        <p:spPr>
          <a:xfrm>
            <a:off x="838191" y="906867"/>
            <a:ext cx="10515600" cy="75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Funcionales</a:t>
            </a:r>
            <a:endParaRPr/>
          </a:p>
        </p:txBody>
      </p:sp>
      <p:graphicFrame>
        <p:nvGraphicFramePr>
          <p:cNvPr id="128" name="Google Shape;128;p6"/>
          <p:cNvGraphicFramePr/>
          <p:nvPr/>
        </p:nvGraphicFramePr>
        <p:xfrm>
          <a:off x="952500" y="1659575"/>
          <a:ext cx="3000000" cy="3000000"/>
        </p:xfrm>
        <a:graphic>
          <a:graphicData uri="http://schemas.openxmlformats.org/drawingml/2006/table">
            <a:tbl>
              <a:tblPr>
                <a:noFill/>
                <a:tableStyleId>{1745D0A5-5363-4D67-BABE-752734FF4444}</a:tableStyleId>
              </a:tblPr>
              <a:tblGrid>
                <a:gridCol w="712125"/>
                <a:gridCol w="4431375"/>
                <a:gridCol w="2571750"/>
                <a:gridCol w="2571750"/>
              </a:tblGrid>
              <a:tr h="381000">
                <a:tc>
                  <a:txBody>
                    <a:bodyPr/>
                    <a:lstStyle/>
                    <a:p>
                      <a:pPr indent="0" lvl="0" marL="0" rtl="0" algn="l">
                        <a:spcBef>
                          <a:spcPts val="0"/>
                        </a:spcBef>
                        <a:spcAft>
                          <a:spcPts val="0"/>
                        </a:spcAft>
                        <a:buNone/>
                      </a:pPr>
                      <a:r>
                        <a:rPr lang="es-CL"/>
                        <a:t>ID</a:t>
                      </a:r>
                      <a:endParaRPr/>
                    </a:p>
                  </a:txBody>
                  <a:tcPr marT="91425" marB="91425" marR="91425" marL="91425"/>
                </a:tc>
                <a:tc>
                  <a:txBody>
                    <a:bodyPr/>
                    <a:lstStyle/>
                    <a:p>
                      <a:pPr indent="0" lvl="0" marL="0" rtl="0" algn="l">
                        <a:spcBef>
                          <a:spcPts val="0"/>
                        </a:spcBef>
                        <a:spcAft>
                          <a:spcPts val="0"/>
                        </a:spcAft>
                        <a:buNone/>
                      </a:pPr>
                      <a:r>
                        <a:rPr lang="es-CL"/>
                        <a:t>Descripción</a:t>
                      </a:r>
                      <a:endParaRPr/>
                    </a:p>
                  </a:txBody>
                  <a:tcPr marT="91425" marB="91425" marR="91425" marL="91425"/>
                </a:tc>
                <a:tc>
                  <a:txBody>
                    <a:bodyPr/>
                    <a:lstStyle/>
                    <a:p>
                      <a:pPr indent="0" lvl="0" marL="0" rtl="0" algn="l">
                        <a:spcBef>
                          <a:spcPts val="0"/>
                        </a:spcBef>
                        <a:spcAft>
                          <a:spcPts val="0"/>
                        </a:spcAft>
                        <a:buNone/>
                      </a:pPr>
                      <a:r>
                        <a:rPr lang="es-CL"/>
                        <a:t>Prioridad</a:t>
                      </a:r>
                      <a:endParaRPr/>
                    </a:p>
                  </a:txBody>
                  <a:tcPr marT="91425" marB="91425" marR="91425" marL="91425"/>
                </a:tc>
                <a:tc>
                  <a:txBody>
                    <a:bodyPr/>
                    <a:lstStyle/>
                    <a:p>
                      <a:pPr indent="0" lvl="0" marL="0" rtl="0" algn="l">
                        <a:spcBef>
                          <a:spcPts val="0"/>
                        </a:spcBef>
                        <a:spcAft>
                          <a:spcPts val="0"/>
                        </a:spcAft>
                        <a:buNone/>
                      </a:pPr>
                      <a:r>
                        <a:rPr lang="es-CL"/>
                        <a:t>Estado</a:t>
                      </a:r>
                      <a:endParaRPr/>
                    </a:p>
                  </a:txBody>
                  <a:tcPr marT="91425" marB="91425" marR="91425" marL="91425"/>
                </a:tc>
              </a:tr>
              <a:tr h="381000">
                <a:tc>
                  <a:txBody>
                    <a:bodyPr/>
                    <a:lstStyle/>
                    <a:p>
                      <a:pPr indent="0" lvl="0" marL="0" rtl="0" algn="l">
                        <a:spcBef>
                          <a:spcPts val="0"/>
                        </a:spcBef>
                        <a:spcAft>
                          <a:spcPts val="0"/>
                        </a:spcAft>
                        <a:buNone/>
                      </a:pPr>
                      <a:r>
                        <a:rPr lang="es-CL"/>
                        <a:t>RF1</a:t>
                      </a:r>
                      <a:endParaRPr/>
                    </a:p>
                  </a:txBody>
                  <a:tcPr marT="91425" marB="91425" marR="91425" marL="91425"/>
                </a:tc>
                <a:tc>
                  <a:txBody>
                    <a:bodyPr/>
                    <a:lstStyle/>
                    <a:p>
                      <a:pPr indent="0" lvl="0" marL="0" rtl="0" algn="l">
                        <a:spcBef>
                          <a:spcPts val="0"/>
                        </a:spcBef>
                        <a:spcAft>
                          <a:spcPts val="0"/>
                        </a:spcAft>
                        <a:buNone/>
                      </a:pPr>
                      <a:r>
                        <a:rPr lang="es-CL"/>
                        <a:t>Inicio de </a:t>
                      </a:r>
                      <a:r>
                        <a:rPr lang="es-CL"/>
                        <a:t>sesión</a:t>
                      </a:r>
                      <a:endParaRPr/>
                    </a:p>
                  </a:txBody>
                  <a:tcPr marT="91425" marB="91425" marR="91425" marL="91425"/>
                </a:tc>
                <a:tc>
                  <a:txBody>
                    <a:bodyPr/>
                    <a:lstStyle/>
                    <a:p>
                      <a:pPr indent="0" lvl="0" marL="0" rtl="0" algn="l">
                        <a:spcBef>
                          <a:spcPts val="0"/>
                        </a:spcBef>
                        <a:spcAft>
                          <a:spcPts val="0"/>
                        </a:spcAft>
                        <a:buNone/>
                      </a:pPr>
                      <a:r>
                        <a:rPr lang="es-CL"/>
                        <a:t>Alta</a:t>
                      </a:r>
                      <a:endParaRPr/>
                    </a:p>
                  </a:txBody>
                  <a:tcPr marT="91425" marB="91425" marR="91425" marL="91425"/>
                </a:tc>
                <a:tc>
                  <a:txBody>
                    <a:bodyPr/>
                    <a:lstStyle/>
                    <a:p>
                      <a:pPr indent="0" lvl="0" marL="0" rtl="0" algn="l">
                        <a:spcBef>
                          <a:spcPts val="0"/>
                        </a:spcBef>
                        <a:spcAft>
                          <a:spcPts val="0"/>
                        </a:spcAft>
                        <a:buNone/>
                      </a:pPr>
                      <a:r>
                        <a:rPr lang="es-CL"/>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RF2</a:t>
                      </a:r>
                      <a:endParaRPr/>
                    </a:p>
                  </a:txBody>
                  <a:tcPr marT="91425" marB="91425" marR="91425" marL="91425"/>
                </a:tc>
                <a:tc>
                  <a:txBody>
                    <a:bodyPr/>
                    <a:lstStyle/>
                    <a:p>
                      <a:pPr indent="0" lvl="0" marL="0" rtl="0" algn="l">
                        <a:spcBef>
                          <a:spcPts val="0"/>
                        </a:spcBef>
                        <a:spcAft>
                          <a:spcPts val="0"/>
                        </a:spcAft>
                        <a:buNone/>
                      </a:pPr>
                      <a:r>
                        <a:rPr lang="es-CL"/>
                        <a:t>Registro de usuarios</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Autenticación</a:t>
                      </a:r>
                      <a:r>
                        <a:rPr lang="es-CL"/>
                        <a:t> y roles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Visualización de centros de salud en mapa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RF5</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Búsqueda de medicamentos listando stock y precio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RF6</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Geolocalización automática del Ciudadano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Media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RF7</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Reserva de horas médicas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RF8</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Compra de medicamentos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RF9</a:t>
                      </a:r>
                      <a:endParaRPr/>
                    </a:p>
                  </a:txBody>
                  <a:tcPr marT="91425" marB="91425" marR="91425" marL="91425"/>
                </a:tc>
                <a:tc>
                  <a:txBody>
                    <a:bodyPr/>
                    <a:lstStyle/>
                    <a:p>
                      <a:pPr indent="0" lvl="0" marL="0" rtl="0" algn="l">
                        <a:spcBef>
                          <a:spcPts val="0"/>
                        </a:spcBef>
                        <a:spcAft>
                          <a:spcPts val="0"/>
                        </a:spcAft>
                        <a:buNone/>
                      </a:pPr>
                      <a:r>
                        <a:rPr lang="es-CL"/>
                        <a:t>Apartado de historial de compras (Ordenes)</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s-CL"/>
                        <a:t>Media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RF10</a:t>
                      </a:r>
                      <a:endParaRPr/>
                    </a:p>
                  </a:txBody>
                  <a:tcPr marT="91425" marB="91425" marR="91425" marL="91425"/>
                </a:tc>
                <a:tc>
                  <a:txBody>
                    <a:bodyPr/>
                    <a:lstStyle/>
                    <a:p>
                      <a:pPr indent="0" lvl="0" marL="0" rtl="0" algn="l">
                        <a:spcBef>
                          <a:spcPts val="0"/>
                        </a:spcBef>
                        <a:spcAft>
                          <a:spcPts val="0"/>
                        </a:spcAft>
                        <a:buNone/>
                      </a:pPr>
                      <a:r>
                        <a:rPr lang="es-CL"/>
                        <a:t>Mantenimiento de </a:t>
                      </a:r>
                      <a:r>
                        <a:rPr lang="es-CL"/>
                        <a:t>información</a:t>
                      </a:r>
                      <a:endParaRPr/>
                    </a:p>
                  </a:txBody>
                  <a:tcPr marT="91425" marB="91425" marR="91425" marL="91425"/>
                </a:tc>
                <a:tc>
                  <a:txBody>
                    <a:bodyPr/>
                    <a:lstStyle/>
                    <a:p>
                      <a:pPr indent="0" lvl="0" marL="0" rtl="0" algn="l">
                        <a:spcBef>
                          <a:spcPts val="0"/>
                        </a:spcBef>
                        <a:spcAft>
                          <a:spcPts val="0"/>
                        </a:spcAft>
                        <a:buNone/>
                      </a:pPr>
                      <a:r>
                        <a:rPr lang="es-CL"/>
                        <a:t>Alta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RF11</a:t>
                      </a:r>
                      <a:endParaRPr/>
                    </a:p>
                  </a:txBody>
                  <a:tcPr marT="91425" marB="91425" marR="91425" marL="91425"/>
                </a:tc>
                <a:tc>
                  <a:txBody>
                    <a:bodyPr/>
                    <a:lstStyle/>
                    <a:p>
                      <a:pPr indent="0" lvl="0" marL="0" rtl="0" algn="l">
                        <a:spcBef>
                          <a:spcPts val="0"/>
                        </a:spcBef>
                        <a:spcAft>
                          <a:spcPts val="0"/>
                        </a:spcAft>
                        <a:buNone/>
                      </a:pPr>
                      <a:r>
                        <a:rPr lang="es-CL"/>
                        <a:t>Generación de reportes de uso</a:t>
                      </a:r>
                      <a:endParaRPr/>
                    </a:p>
                  </a:txBody>
                  <a:tcPr marT="91425" marB="91425" marR="91425" marL="91425"/>
                </a:tc>
                <a:tc>
                  <a:txBody>
                    <a:bodyPr/>
                    <a:lstStyle/>
                    <a:p>
                      <a:pPr indent="0" lvl="0" marL="0" rtl="0" algn="l">
                        <a:spcBef>
                          <a:spcPts val="0"/>
                        </a:spcBef>
                        <a:spcAft>
                          <a:spcPts val="0"/>
                        </a:spcAft>
                        <a:buNone/>
                      </a:pPr>
                      <a:r>
                        <a:rPr lang="es-CL"/>
                        <a:t>Media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Completado</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txBox="1"/>
          <p:nvPr>
            <p:ph type="title"/>
          </p:nvPr>
        </p:nvSpPr>
        <p:spPr>
          <a:xfrm>
            <a:off x="838191" y="867493"/>
            <a:ext cx="10515600" cy="723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Lista de Requerimientos No Funcionales</a:t>
            </a:r>
            <a:endParaRPr/>
          </a:p>
        </p:txBody>
      </p:sp>
      <p:graphicFrame>
        <p:nvGraphicFramePr>
          <p:cNvPr id="134" name="Google Shape;134;p7"/>
          <p:cNvGraphicFramePr/>
          <p:nvPr/>
        </p:nvGraphicFramePr>
        <p:xfrm>
          <a:off x="952500" y="1876050"/>
          <a:ext cx="3000000" cy="3000000"/>
        </p:xfrm>
        <a:graphic>
          <a:graphicData uri="http://schemas.openxmlformats.org/drawingml/2006/table">
            <a:tbl>
              <a:tblPr>
                <a:noFill/>
                <a:tableStyleId>{1745D0A5-5363-4D67-BABE-752734FF4444}</a:tableStyleId>
              </a:tblPr>
              <a:tblGrid>
                <a:gridCol w="840025"/>
                <a:gridCol w="4303475"/>
                <a:gridCol w="2571750"/>
                <a:gridCol w="2571750"/>
              </a:tblGrid>
              <a:tr h="381000">
                <a:tc>
                  <a:txBody>
                    <a:bodyPr/>
                    <a:lstStyle/>
                    <a:p>
                      <a:pPr indent="0" lvl="0" marL="0" rtl="0" algn="l">
                        <a:spcBef>
                          <a:spcPts val="0"/>
                        </a:spcBef>
                        <a:spcAft>
                          <a:spcPts val="0"/>
                        </a:spcAft>
                        <a:buNone/>
                      </a:pPr>
                      <a:r>
                        <a:rPr lang="es-CL"/>
                        <a:t>ID</a:t>
                      </a:r>
                      <a:endParaRPr/>
                    </a:p>
                  </a:txBody>
                  <a:tcPr marT="91425" marB="91425" marR="91425" marL="91425"/>
                </a:tc>
                <a:tc>
                  <a:txBody>
                    <a:bodyPr/>
                    <a:lstStyle/>
                    <a:p>
                      <a:pPr indent="0" lvl="0" marL="0" rtl="0" algn="l">
                        <a:spcBef>
                          <a:spcPts val="0"/>
                        </a:spcBef>
                        <a:spcAft>
                          <a:spcPts val="0"/>
                        </a:spcAft>
                        <a:buNone/>
                      </a:pPr>
                      <a:r>
                        <a:rPr lang="es-CL"/>
                        <a:t>Descripción</a:t>
                      </a:r>
                      <a:endParaRPr/>
                    </a:p>
                  </a:txBody>
                  <a:tcPr marT="91425" marB="91425" marR="91425" marL="91425"/>
                </a:tc>
                <a:tc>
                  <a:txBody>
                    <a:bodyPr/>
                    <a:lstStyle/>
                    <a:p>
                      <a:pPr indent="0" lvl="0" marL="0" rtl="0" algn="l">
                        <a:spcBef>
                          <a:spcPts val="0"/>
                        </a:spcBef>
                        <a:spcAft>
                          <a:spcPts val="0"/>
                        </a:spcAft>
                        <a:buNone/>
                      </a:pPr>
                      <a:r>
                        <a:rPr lang="es-CL"/>
                        <a:t>Prioridad</a:t>
                      </a:r>
                      <a:endParaRPr/>
                    </a:p>
                  </a:txBody>
                  <a:tcPr marT="91425" marB="91425" marR="91425" marL="91425"/>
                </a:tc>
                <a:tc>
                  <a:txBody>
                    <a:bodyPr/>
                    <a:lstStyle/>
                    <a:p>
                      <a:pPr indent="0" lvl="0" marL="0" rtl="0" algn="l">
                        <a:spcBef>
                          <a:spcPts val="0"/>
                        </a:spcBef>
                        <a:spcAft>
                          <a:spcPts val="0"/>
                        </a:spcAft>
                        <a:buNone/>
                      </a:pPr>
                      <a:r>
                        <a:rPr lang="es-CL"/>
                        <a:t>Estado</a:t>
                      </a:r>
                      <a:endParaRPr/>
                    </a:p>
                  </a:txBody>
                  <a:tcPr marT="91425" marB="91425" marR="91425" marL="91425"/>
                </a:tc>
              </a:tr>
              <a:tr h="381000">
                <a:tc>
                  <a:txBody>
                    <a:bodyPr/>
                    <a:lstStyle/>
                    <a:p>
                      <a:pPr indent="0" lvl="0" marL="0" rtl="0" algn="l">
                        <a:spcBef>
                          <a:spcPts val="0"/>
                        </a:spcBef>
                        <a:spcAft>
                          <a:spcPts val="0"/>
                        </a:spcAft>
                        <a:buNone/>
                      </a:pPr>
                      <a:r>
                        <a:rPr lang="es-CL"/>
                        <a:t>RNF1</a:t>
                      </a:r>
                      <a:endParaRPr/>
                    </a:p>
                  </a:txBody>
                  <a:tcPr marT="91425" marB="91425" marR="91425" marL="91425"/>
                </a:tc>
                <a:tc>
                  <a:txBody>
                    <a:bodyPr/>
                    <a:lstStyle/>
                    <a:p>
                      <a:pPr indent="0" lvl="0" marL="0" rtl="0" algn="l">
                        <a:spcBef>
                          <a:spcPts val="0"/>
                        </a:spcBef>
                        <a:spcAft>
                          <a:spcPts val="0"/>
                        </a:spcAft>
                        <a:buNone/>
                      </a:pPr>
                      <a:r>
                        <a:rPr lang="es-CL"/>
                        <a:t>Interfaz </a:t>
                      </a:r>
                      <a:r>
                        <a:rPr lang="es-CL"/>
                        <a:t>intuitiva</a:t>
                      </a:r>
                      <a:r>
                        <a:rPr lang="es-CL"/>
                        <a:t> y accesible</a:t>
                      </a:r>
                      <a:endParaRPr/>
                    </a:p>
                  </a:txBody>
                  <a:tcPr marT="91425" marB="91425" marR="91425" marL="91425"/>
                </a:tc>
                <a:tc>
                  <a:txBody>
                    <a:bodyPr/>
                    <a:lstStyle/>
                    <a:p>
                      <a:pPr indent="0" lvl="0" marL="0" rtl="0" algn="l">
                        <a:spcBef>
                          <a:spcPts val="0"/>
                        </a:spcBef>
                        <a:spcAft>
                          <a:spcPts val="0"/>
                        </a:spcAft>
                        <a:buNone/>
                      </a:pPr>
                      <a:r>
                        <a:rPr lang="es-CL"/>
                        <a:t>Alta</a:t>
                      </a:r>
                      <a:endParaRPr/>
                    </a:p>
                  </a:txBody>
                  <a:tcPr marT="91425" marB="91425" marR="91425" marL="91425"/>
                </a:tc>
                <a:tc>
                  <a:txBody>
                    <a:bodyPr/>
                    <a:lstStyle/>
                    <a:p>
                      <a:pPr indent="0" lvl="0" marL="0" rtl="0" algn="l">
                        <a:spcBef>
                          <a:spcPts val="0"/>
                        </a:spcBef>
                        <a:spcAft>
                          <a:spcPts val="0"/>
                        </a:spcAft>
                        <a:buNone/>
                      </a:pPr>
                      <a:r>
                        <a:rPr lang="es-CL"/>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RNF2</a:t>
                      </a:r>
                      <a:endParaRPr/>
                    </a:p>
                  </a:txBody>
                  <a:tcPr marT="91425" marB="91425" marR="91425" marL="91425"/>
                </a:tc>
                <a:tc>
                  <a:txBody>
                    <a:bodyPr/>
                    <a:lstStyle/>
                    <a:p>
                      <a:pPr indent="0" lvl="0" marL="0" rtl="0" algn="l">
                        <a:spcBef>
                          <a:spcPts val="0"/>
                        </a:spcBef>
                        <a:spcAft>
                          <a:spcPts val="0"/>
                        </a:spcAft>
                        <a:buNone/>
                      </a:pPr>
                      <a:r>
                        <a:rPr lang="es-CL"/>
                        <a:t>Diseño responsivo</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Rendimiento de consultas (&gt;3 seg)</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CL"/>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Disponibilidad del sistema (99,9%)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RNF5</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Autenticación</a:t>
                      </a:r>
                      <a:r>
                        <a:rPr lang="es-CL"/>
                        <a:t> segura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RNF6</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Diseño modular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RNF7</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Integración con APIs externas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RNF8</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s-CL"/>
                        <a:t>Control de acceso por roles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Alta</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s-CL">
                          <a:solidFill>
                            <a:schemeClr val="dk1"/>
                          </a:solidFill>
                        </a:rPr>
                        <a:t>RNF9</a:t>
                      </a:r>
                      <a:endParaRPr/>
                    </a:p>
                  </a:txBody>
                  <a:tcPr marT="91425" marB="91425" marR="91425" marL="91425"/>
                </a:tc>
                <a:tc>
                  <a:txBody>
                    <a:bodyPr/>
                    <a:lstStyle/>
                    <a:p>
                      <a:pPr indent="0" lvl="0" marL="0" rtl="0" algn="l">
                        <a:spcBef>
                          <a:spcPts val="0"/>
                        </a:spcBef>
                        <a:spcAft>
                          <a:spcPts val="0"/>
                        </a:spcAft>
                        <a:buNone/>
                      </a:pPr>
                      <a:r>
                        <a:rPr lang="es-CL"/>
                        <a:t>Escalabilidad de usuarios concurrentes</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es-CL">
                          <a:solidFill>
                            <a:schemeClr val="dk1"/>
                          </a:solidFill>
                        </a:rPr>
                        <a:t>Alta</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s-CL">
                          <a:solidFill>
                            <a:schemeClr val="dk1"/>
                          </a:solidFill>
                        </a:rPr>
                        <a:t>Completada</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641252" y="1068511"/>
            <a:ext cx="10515600" cy="52080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Diseño del Sistema</a:t>
            </a:r>
            <a:endParaRPr/>
          </a:p>
        </p:txBody>
      </p:sp>
      <p:sp>
        <p:nvSpPr>
          <p:cNvPr id="140" name="Google Shape;140;p8"/>
          <p:cNvSpPr txBox="1"/>
          <p:nvPr/>
        </p:nvSpPr>
        <p:spPr>
          <a:xfrm>
            <a:off x="789225" y="1672550"/>
            <a:ext cx="9990600" cy="4525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s-CL" sz="1800">
                <a:solidFill>
                  <a:schemeClr val="dk1"/>
                </a:solidFill>
                <a:latin typeface="Calibri"/>
                <a:ea typeface="Calibri"/>
                <a:cs typeface="Calibri"/>
                <a:sym typeface="Calibri"/>
              </a:rPr>
              <a:t>Tecnología:</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CL" sz="1800">
                <a:solidFill>
                  <a:schemeClr val="dk1"/>
                </a:solidFill>
                <a:latin typeface="Calibri"/>
                <a:ea typeface="Calibri"/>
                <a:cs typeface="Calibri"/>
                <a:sym typeface="Calibri"/>
              </a:rPr>
              <a:t>Base de datos NoSQL orientada a documentos, en la nube, con sincronización en tiempo real.</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CL" sz="1800">
                <a:solidFill>
                  <a:schemeClr val="dk1"/>
                </a:solidFill>
                <a:latin typeface="Calibri"/>
                <a:ea typeface="Calibri"/>
                <a:cs typeface="Calibri"/>
                <a:sym typeface="Calibri"/>
              </a:rPr>
              <a:t>Características clave:</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Escalabilidad automática: crecimiento sin configurar servidores.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Seguridad por reglas: control de acceso granular por usuario, rol y campos.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Sincronización real-time: actualizaciones instantáneas en todos los dispositivos; soporte offline.</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APIs multiplataforma: Web, Android, iOS, Flutter, Node.js, etc.</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CL" sz="1800">
                <a:solidFill>
                  <a:schemeClr val="dk1"/>
                </a:solidFill>
                <a:latin typeface="Calibri"/>
                <a:ea typeface="Calibri"/>
                <a:cs typeface="Calibri"/>
                <a:sym typeface="Calibri"/>
              </a:rPr>
              <a:t>Cómo se comparan las relaciones:</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rPr lang="es-CL" sz="1800">
                <a:solidFill>
                  <a:schemeClr val="dk1"/>
                </a:solidFill>
                <a:latin typeface="Calibri"/>
                <a:ea typeface="Calibri"/>
                <a:cs typeface="Calibri"/>
                <a:sym typeface="Calibri"/>
              </a:rPr>
              <a:t>No hay tablas ni JOINs;</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Relaciones mediante IDs, arrays </a:t>
            </a:r>
            <a:r>
              <a:rPr lang="es-CL" sz="1800">
                <a:solidFill>
                  <a:schemeClr val="dk1"/>
                </a:solidFill>
                <a:latin typeface="Calibri"/>
                <a:ea typeface="Calibri"/>
                <a:cs typeface="Calibri"/>
                <a:sym typeface="Calibri"/>
              </a:rPr>
              <a:t>y</a:t>
            </a:r>
            <a:r>
              <a:rPr lang="es-CL" sz="1800">
                <a:solidFill>
                  <a:schemeClr val="dk1"/>
                </a:solidFill>
                <a:latin typeface="Calibri"/>
                <a:ea typeface="Calibri"/>
                <a:cs typeface="Calibri"/>
                <a:sym typeface="Calibri"/>
              </a:rPr>
              <a:t> colecciones puente para muchos-a-muchos.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641252" y="1068511"/>
            <a:ext cx="10515600" cy="64417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Diseño del Sistema</a:t>
            </a:r>
            <a:endParaRPr/>
          </a:p>
        </p:txBody>
      </p:sp>
      <p:sp>
        <p:nvSpPr>
          <p:cNvPr id="146" name="Google Shape;146;p9"/>
          <p:cNvSpPr txBox="1"/>
          <p:nvPr/>
        </p:nvSpPr>
        <p:spPr>
          <a:xfrm>
            <a:off x="725725" y="1712675"/>
            <a:ext cx="26490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Diagrama de Caso Uso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7" name="Google Shape;147;p9"/>
          <p:cNvPicPr preferRelativeResize="0"/>
          <p:nvPr/>
        </p:nvPicPr>
        <p:blipFill>
          <a:blip r:embed="rId3">
            <a:alphaModFix/>
          </a:blip>
          <a:stretch>
            <a:fillRect/>
          </a:stretch>
        </p:blipFill>
        <p:spPr>
          <a:xfrm>
            <a:off x="4963050" y="1318200"/>
            <a:ext cx="2610700" cy="5293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type="title"/>
          </p:nvPr>
        </p:nvSpPr>
        <p:spPr>
          <a:xfrm>
            <a:off x="663024" y="937883"/>
            <a:ext cx="10515600" cy="63691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CL"/>
              <a:t>Arquitectura del Sistema</a:t>
            </a:r>
            <a:endParaRPr/>
          </a:p>
        </p:txBody>
      </p:sp>
      <p:sp>
        <p:nvSpPr>
          <p:cNvPr id="153" name="Google Shape;153;p10"/>
          <p:cNvSpPr txBox="1"/>
          <p:nvPr/>
        </p:nvSpPr>
        <p:spPr>
          <a:xfrm>
            <a:off x="663024" y="2192975"/>
            <a:ext cx="28362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Patrón arquitectónico seleccionado: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arquitectura de n capas (n-tier architecture)</a:t>
            </a:r>
            <a:endParaRPr sz="1800">
              <a:solidFill>
                <a:schemeClr val="dk1"/>
              </a:solidFill>
              <a:latin typeface="Calibri"/>
              <a:ea typeface="Calibri"/>
              <a:cs typeface="Calibri"/>
              <a:sym typeface="Calibri"/>
            </a:endParaRPr>
          </a:p>
        </p:txBody>
      </p:sp>
      <p:pic>
        <p:nvPicPr>
          <p:cNvPr id="154" name="Google Shape;154;p10" title="Untitled diagram-2025-11-20-003708.png"/>
          <p:cNvPicPr preferRelativeResize="0"/>
          <p:nvPr/>
        </p:nvPicPr>
        <p:blipFill>
          <a:blip r:embed="rId3">
            <a:alphaModFix/>
          </a:blip>
          <a:stretch>
            <a:fillRect/>
          </a:stretch>
        </p:blipFill>
        <p:spPr>
          <a:xfrm>
            <a:off x="4844200" y="1743475"/>
            <a:ext cx="6862198" cy="47546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3"/>
          <p:cNvSpPr txBox="1"/>
          <p:nvPr>
            <p:ph type="title"/>
          </p:nvPr>
        </p:nvSpPr>
        <p:spPr>
          <a:xfrm>
            <a:off x="753794" y="70274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Planificación (Referencia - Carta Gantt)</a:t>
            </a:r>
            <a:endParaRPr/>
          </a:p>
        </p:txBody>
      </p:sp>
      <p:sp>
        <p:nvSpPr>
          <p:cNvPr id="160" name="Google Shape;160;p13"/>
          <p:cNvSpPr txBox="1"/>
          <p:nvPr/>
        </p:nvSpPr>
        <p:spPr>
          <a:xfrm>
            <a:off x="753800" y="2092925"/>
            <a:ext cx="2924700" cy="2031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Fase 1: Planificación</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7-13 Septiembre</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Kick Off del proyecto</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Definición de requerimientos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13"/>
          <p:cNvSpPr txBox="1"/>
          <p:nvPr/>
        </p:nvSpPr>
        <p:spPr>
          <a:xfrm>
            <a:off x="4549250" y="2028300"/>
            <a:ext cx="2924700" cy="2586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Fase 2: Análisis y Diseño</a:t>
            </a:r>
            <a:endParaRPr b="1" sz="1800">
              <a:solidFill>
                <a:schemeClr val="dk1"/>
              </a:solidFill>
              <a:latin typeface="Calibri"/>
              <a:ea typeface="Calibri"/>
              <a:cs typeface="Calibri"/>
              <a:sym typeface="Calibri"/>
            </a:endParaRPr>
          </a:p>
          <a:p>
            <a:pPr indent="0" lvl="0" marL="0" rtl="0" algn="l">
              <a:spcBef>
                <a:spcPts val="0"/>
              </a:spcBef>
              <a:spcAft>
                <a:spcPts val="0"/>
              </a:spcAft>
              <a:buSzPts val="1100"/>
              <a:buNone/>
            </a:pPr>
            <a:r>
              <a:rPr b="1" lang="es-CL" sz="1800">
                <a:solidFill>
                  <a:schemeClr val="dk1"/>
                </a:solidFill>
                <a:latin typeface="Calibri"/>
                <a:ea typeface="Calibri"/>
                <a:cs typeface="Calibri"/>
                <a:sym typeface="Calibri"/>
              </a:rPr>
              <a:t>14 Septiembre - 4 Octubre</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Documento de arquitectura</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Prototipos o modelos de BD</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3"/>
          <p:cNvSpPr txBox="1"/>
          <p:nvPr/>
        </p:nvSpPr>
        <p:spPr>
          <a:xfrm>
            <a:off x="8344700" y="2028450"/>
            <a:ext cx="2924700" cy="2308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Fase 3: Desarrollo</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5 Octubre - 15 Noviembre</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Módulos</a:t>
            </a:r>
            <a:r>
              <a:rPr lang="es-CL" sz="1800">
                <a:solidFill>
                  <a:schemeClr val="dk1"/>
                </a:solidFill>
                <a:latin typeface="Calibri"/>
                <a:ea typeface="Calibri"/>
                <a:cs typeface="Calibri"/>
                <a:sym typeface="Calibri"/>
              </a:rPr>
              <a:t>: Autenticación, Reportes, Consultas</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3"/>
          <p:cNvSpPr txBox="1"/>
          <p:nvPr/>
        </p:nvSpPr>
        <p:spPr>
          <a:xfrm>
            <a:off x="2615650" y="4279800"/>
            <a:ext cx="2924700" cy="1754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Fase 4: Pruebas y QA</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16 Noviembre - 6 Diciembre</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Pruebas funcionales e integración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Pruebas de aceptación</a:t>
            </a:r>
            <a:endParaRPr sz="1800">
              <a:solidFill>
                <a:schemeClr val="dk1"/>
              </a:solidFill>
              <a:latin typeface="Calibri"/>
              <a:ea typeface="Calibri"/>
              <a:cs typeface="Calibri"/>
              <a:sym typeface="Calibri"/>
            </a:endParaRPr>
          </a:p>
        </p:txBody>
      </p:sp>
      <p:sp>
        <p:nvSpPr>
          <p:cNvPr id="164" name="Google Shape;164;p13"/>
          <p:cNvSpPr txBox="1"/>
          <p:nvPr/>
        </p:nvSpPr>
        <p:spPr>
          <a:xfrm>
            <a:off x="6716750" y="4279800"/>
            <a:ext cx="2924700" cy="1754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Fase 5: Implementación</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s-CL" sz="1800">
                <a:solidFill>
                  <a:schemeClr val="dk1"/>
                </a:solidFill>
                <a:latin typeface="Calibri"/>
                <a:ea typeface="Calibri"/>
                <a:cs typeface="Calibri"/>
                <a:sym typeface="Calibri"/>
              </a:rPr>
              <a:t>7-15 Diciembre</a:t>
            </a:r>
            <a:endParaRPr b="1"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Capacitación y documentación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ENTREGA FINAL</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838202" y="599597"/>
            <a:ext cx="10515600" cy="111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CL"/>
              <a:t>Resumen de Costos Estimados del Proyecto</a:t>
            </a:r>
            <a:endParaRPr/>
          </a:p>
        </p:txBody>
      </p:sp>
      <p:graphicFrame>
        <p:nvGraphicFramePr>
          <p:cNvPr id="170" name="Google Shape;170;p14"/>
          <p:cNvGraphicFramePr/>
          <p:nvPr/>
        </p:nvGraphicFramePr>
        <p:xfrm>
          <a:off x="952500" y="1590600"/>
          <a:ext cx="3000000" cy="3000000"/>
        </p:xfrm>
        <a:graphic>
          <a:graphicData uri="http://schemas.openxmlformats.org/drawingml/2006/table">
            <a:tbl>
              <a:tblPr>
                <a:noFill/>
                <a:tableStyleId>{1745D0A5-5363-4D67-BABE-752734FF4444}</a:tableStyleId>
              </a:tblPr>
              <a:tblGrid>
                <a:gridCol w="3429000"/>
                <a:gridCol w="3429000"/>
                <a:gridCol w="3429000"/>
              </a:tblGrid>
              <a:tr h="381000">
                <a:tc>
                  <a:txBody>
                    <a:bodyPr/>
                    <a:lstStyle/>
                    <a:p>
                      <a:pPr indent="0" lvl="0" marL="0" rtl="0" algn="l">
                        <a:lnSpc>
                          <a:spcPct val="163043"/>
                        </a:lnSpc>
                        <a:spcBef>
                          <a:spcPts val="0"/>
                        </a:spcBef>
                        <a:spcAft>
                          <a:spcPts val="0"/>
                        </a:spcAft>
                        <a:buNone/>
                      </a:pPr>
                      <a:r>
                        <a:rPr b="1" lang="es-CL" sz="1150" u="sng">
                          <a:solidFill>
                            <a:schemeClr val="dk1"/>
                          </a:solidFill>
                          <a:highlight>
                            <a:schemeClr val="lt1"/>
                          </a:highlight>
                          <a:latin typeface="Roboto"/>
                          <a:ea typeface="Roboto"/>
                          <a:cs typeface="Roboto"/>
                          <a:sym typeface="Roboto"/>
                        </a:rPr>
                        <a:t>Concepto</a:t>
                      </a:r>
                      <a:endParaRPr b="1" sz="1150" u="sng">
                        <a:solidFill>
                          <a:schemeClr val="dk1"/>
                        </a:solidFill>
                        <a:highlight>
                          <a:schemeClr val="lt1"/>
                        </a:highlight>
                        <a:latin typeface="Roboto"/>
                        <a:ea typeface="Roboto"/>
                        <a:cs typeface="Roboto"/>
                        <a:sym typeface="Roboto"/>
                      </a:endParaRPr>
                    </a:p>
                  </a:txBody>
                  <a:tcPr marT="95250" marB="95250" marR="152400" marL="91425">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s-CL" sz="1150" u="sng">
                          <a:solidFill>
                            <a:schemeClr val="dk1"/>
                          </a:solidFill>
                          <a:highlight>
                            <a:schemeClr val="lt1"/>
                          </a:highlight>
                          <a:latin typeface="Roboto"/>
                          <a:ea typeface="Roboto"/>
                          <a:cs typeface="Roboto"/>
                          <a:sym typeface="Roboto"/>
                        </a:rPr>
                        <a:t>Valor</a:t>
                      </a:r>
                      <a:endParaRPr b="1" sz="1150" u="sng">
                        <a:solidFill>
                          <a:schemeClr val="dk1"/>
                        </a:solidFill>
                        <a:highlight>
                          <a:schemeClr val="lt1"/>
                        </a:highlight>
                        <a:latin typeface="Roboto"/>
                        <a:ea typeface="Roboto"/>
                        <a:cs typeface="Roboto"/>
                        <a:sym typeface="Roboto"/>
                      </a:endParaRPr>
                    </a:p>
                  </a:txBody>
                  <a:tcPr marT="95250" marB="95250" marR="152400" marL="152400">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b="1" lang="es-CL" sz="1150" u="sng">
                          <a:solidFill>
                            <a:schemeClr val="dk1"/>
                          </a:solidFill>
                          <a:highlight>
                            <a:schemeClr val="lt1"/>
                          </a:highlight>
                          <a:latin typeface="Roboto"/>
                          <a:ea typeface="Roboto"/>
                          <a:cs typeface="Roboto"/>
                          <a:sym typeface="Roboto"/>
                        </a:rPr>
                        <a:t>Detalle</a:t>
                      </a:r>
                      <a:endParaRPr b="1" sz="1150" u="sng">
                        <a:solidFill>
                          <a:schemeClr val="dk1"/>
                        </a:solidFill>
                        <a:highlight>
                          <a:schemeClr val="lt1"/>
                        </a:highlight>
                        <a:latin typeface="Roboto"/>
                        <a:ea typeface="Roboto"/>
                        <a:cs typeface="Roboto"/>
                        <a:sym typeface="Roboto"/>
                      </a:endParaRPr>
                    </a:p>
                  </a:txBody>
                  <a:tcPr marT="95250" marB="95250" marR="152400" marL="152400">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Costo Total</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$43.026.000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a:solidFill>
                            <a:schemeClr val="dk1"/>
                          </a:solidFill>
                          <a:highlight>
                            <a:schemeClr val="lt1"/>
                          </a:highlight>
                        </a:rPr>
                        <a:t>–</a:t>
                      </a:r>
                      <a:endParaRPr>
                        <a:solidFill>
                          <a:schemeClr val="dk1"/>
                        </a:solidFill>
                        <a:highlight>
                          <a:schemeClr val="lt1"/>
                        </a:highlight>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Duración</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159 días</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7 Sep - 15 Dic 2025</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Horas Totales</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1.129 horas</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a:solidFill>
                            <a:schemeClr val="dk1"/>
                          </a:solidFill>
                          <a:highlight>
                            <a:schemeClr val="lt1"/>
                          </a:highlight>
                        </a:rPr>
                        <a:t>–</a:t>
                      </a:r>
                      <a:endParaRPr>
                        <a:solidFill>
                          <a:schemeClr val="dk1"/>
                        </a:solidFill>
                        <a:highlight>
                          <a:schemeClr val="lt1"/>
                        </a:highlight>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Desarrollo</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$12.060.000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62.4% del total</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Planificación</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$1.700.000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8.8% del total</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Diseño</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$1.568.000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8.1% del total</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Pruebas/QA</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$2.480.000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12.8% del total</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Implementación</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$1.528.000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7.9% del total</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Analista Programador</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$11.920.000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596 horas</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Jefe de Proyecto</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$5.200.000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208 horas</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Administrador BD</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$3.960.000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180 horas</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QA Testing</a:t>
                      </a:r>
                      <a:endParaRPr sz="1150">
                        <a:solidFill>
                          <a:schemeClr val="dk1"/>
                        </a:solidFill>
                        <a:highlight>
                          <a:schemeClr val="lt1"/>
                        </a:highlight>
                        <a:latin typeface="Roboto"/>
                        <a:ea typeface="Roboto"/>
                        <a:cs typeface="Roboto"/>
                        <a:sym typeface="Roboto"/>
                      </a:endParaRPr>
                    </a:p>
                  </a:txBody>
                  <a:tcPr marT="95250" marB="95250" marR="152400" marL="91425">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$2.610.000</a:t>
                      </a:r>
                      <a:endParaRPr sz="1150">
                        <a:solidFill>
                          <a:schemeClr val="dk1"/>
                        </a:solidFill>
                        <a:highlight>
                          <a:schemeClr val="lt1"/>
                        </a:highlight>
                        <a:latin typeface="Roboto"/>
                        <a:ea typeface="Roboto"/>
                        <a:cs typeface="Roboto"/>
                        <a:sym typeface="Roboto"/>
                      </a:endParaRPr>
                    </a:p>
                  </a:txBody>
                  <a:tcPr marT="95250" marB="95250" marR="152400"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3043"/>
                        </a:lnSpc>
                        <a:spcBef>
                          <a:spcPts val="0"/>
                        </a:spcBef>
                        <a:spcAft>
                          <a:spcPts val="0"/>
                        </a:spcAft>
                        <a:buNone/>
                      </a:pPr>
                      <a:r>
                        <a:rPr lang="es-CL" sz="1150">
                          <a:solidFill>
                            <a:schemeClr val="dk1"/>
                          </a:solidFill>
                          <a:highlight>
                            <a:schemeClr val="lt1"/>
                          </a:highlight>
                          <a:latin typeface="Roboto"/>
                          <a:ea typeface="Roboto"/>
                          <a:cs typeface="Roboto"/>
                          <a:sym typeface="Roboto"/>
                        </a:rPr>
                        <a:t>145 horas</a:t>
                      </a:r>
                      <a:endParaRPr sz="1150">
                        <a:solidFill>
                          <a:schemeClr val="dk1"/>
                        </a:solidFill>
                        <a:highlight>
                          <a:schemeClr val="lt1"/>
                        </a:highlight>
                        <a:latin typeface="Roboto"/>
                        <a:ea typeface="Roboto"/>
                        <a:cs typeface="Roboto"/>
                        <a:sym typeface="Roboto"/>
                      </a:endParaRPr>
                    </a:p>
                  </a:txBody>
                  <a:tcPr marT="95250" marB="95250" marR="91425" marL="15240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nvSpPr>
        <p:spPr>
          <a:xfrm>
            <a:off x="565108" y="1372220"/>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lang="es-CL" sz="4400">
                <a:solidFill>
                  <a:schemeClr val="dk1"/>
                </a:solidFill>
                <a:latin typeface="Calibri"/>
                <a:ea typeface="Calibri"/>
                <a:cs typeface="Calibri"/>
                <a:sym typeface="Calibri"/>
              </a:rPr>
              <a:t>Presentación del sistema desarrollado en vivo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2015-07-01T15:45:01Z</dcterms:created>
  <dc:creator>Sala_</dc:creator>
</cp:coreProperties>
</file>