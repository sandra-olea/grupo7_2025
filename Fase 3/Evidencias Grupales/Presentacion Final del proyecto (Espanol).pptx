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ePc15ZdMHPPU1ECONVGzUFUX1O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4" name="ALAN . MORENO FLORE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C1A8E2-BA37-48E7-AF85-3F3DE09DCBDC}">
  <a:tblStyle styleId="{A5C1A8E2-BA37-48E7-AF85-3F3DE09DCB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A0CE6C7-AD45-4657-8CCE-2EB6E7C9501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03T02:22:36.532">
    <p:pos x="6000" y="0"/>
    <p:text>Alan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Ssbys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12-03T02:22:44.837">
    <p:pos x="6000" y="0"/>
    <p:text>Alan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Ssbyw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2-03T02:22:50.029">
    <p:pos x="6000" y="0"/>
    <p:text>Alan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Ssby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2-03T02:22:55.039">
    <p:pos x="6000" y="0"/>
    <p:text>Alan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Ssby4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12-03T02:23:02.897">
    <p:pos x="6000" y="0"/>
    <p:text>Alan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Ssby8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5-12-03T02:23:12.759">
    <p:pos x="6000" y="0"/>
    <p:text>Pavez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SsbzA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5-12-03T02:23:17.974">
    <p:pos x="6000" y="0"/>
    <p:text>Pavez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0o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5-12-03T02:23:35.726">
    <p:pos x="6000" y="0"/>
    <p:text>Pavez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0s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5-12-03T02:23:58.957">
    <p:pos x="6000" y="0"/>
    <p:text>Alan - Oliva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0w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5-12-03T02:24:05.770">
    <p:pos x="6000" y="0"/>
    <p:text>Oliva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0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5-12-03T02:24:13.546">
    <p:pos x="6000" y="0"/>
    <p:text>Pavez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04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5-12-03T02:24:22.105">
    <p:pos x="6000" y="0"/>
    <p:text>Oliva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08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5-12-03T02:24:27.661">
    <p:pos x="6000" y="0"/>
    <p:text>TODOS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1A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5-12-03T02:24:32.739">
    <p:pos x="6000" y="0"/>
    <p:text>TODOS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9USG1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3e78b321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3e78b321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3e78b321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3e78b3219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3e78b3219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a3e78b3219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14"/>
          <p:cNvGrpSpPr/>
          <p:nvPr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18" name="Google Shape;18;p14"/>
            <p:cNvSpPr/>
            <p:nvPr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rgbClr val="004BB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4"/>
            <p:cNvSpPr/>
            <p:nvPr/>
          </p:nvSpPr>
          <p:spPr>
            <a:xfrm>
              <a:off x="1" y="4571999"/>
              <a:ext cx="1118508" cy="1118508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4"/>
            <p:cNvSpPr/>
            <p:nvPr/>
          </p:nvSpPr>
          <p:spPr>
            <a:xfrm>
              <a:off x="1" y="5739492"/>
              <a:ext cx="1118508" cy="1118508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1;p14"/>
            <p:cNvGrpSpPr/>
            <p:nvPr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22" name="Google Shape;22;p14"/>
              <p:cNvSpPr/>
              <p:nvPr/>
            </p:nvSpPr>
            <p:spPr>
              <a:xfrm rot="-5400000">
                <a:off x="10667433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4"/>
              <p:cNvSpPr/>
              <p:nvPr/>
            </p:nvSpPr>
            <p:spPr>
              <a:xfrm flipH="1" rot="5400000">
                <a:off x="9499940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" name="Google Shape;24;p14"/>
            <p:cNvSpPr/>
            <p:nvPr/>
          </p:nvSpPr>
          <p:spPr>
            <a:xfrm>
              <a:off x="0" y="-1"/>
              <a:ext cx="1167493" cy="1167493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1024507" y="4580708"/>
              <a:ext cx="1167493" cy="2277292"/>
            </a:xfrm>
            <a:custGeom>
              <a:rect b="b" l="l" r="r" t="t"/>
              <a:pathLst>
                <a:path extrusionOk="0" h="2272167" w="1167493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14"/>
          <p:cNvSpPr txBox="1"/>
          <p:nvPr>
            <p:ph type="ctrTitle"/>
          </p:nvPr>
        </p:nvSpPr>
        <p:spPr>
          <a:xfrm>
            <a:off x="1167493" y="232913"/>
            <a:ext cx="7096933" cy="3830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15"/>
          <p:cNvGrpSpPr/>
          <p:nvPr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29" name="Google Shape;29;p15"/>
            <p:cNvSpPr/>
            <p:nvPr/>
          </p:nvSpPr>
          <p:spPr>
            <a:xfrm flipH="1">
              <a:off x="8580896" y="1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5"/>
            <p:cNvSpPr/>
            <p:nvPr/>
          </p:nvSpPr>
          <p:spPr>
            <a:xfrm flipH="1">
              <a:off x="8580896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5"/>
            <p:cNvSpPr/>
            <p:nvPr/>
          </p:nvSpPr>
          <p:spPr>
            <a:xfrm>
              <a:off x="1" y="0"/>
              <a:ext cx="933856" cy="933856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15"/>
            <p:cNvGrpSpPr/>
            <p:nvPr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33" name="Google Shape;33;p15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5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" name="Google Shape;35;p15"/>
          <p:cNvSpPr txBox="1"/>
          <p:nvPr>
            <p:ph type="title"/>
          </p:nvPr>
        </p:nvSpPr>
        <p:spPr>
          <a:xfrm>
            <a:off x="1158864" y="102021"/>
            <a:ext cx="9779183" cy="17444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1158865" y="2017467"/>
            <a:ext cx="9779182" cy="3366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2">
  <p:cSld name="Título y contenido 2">
    <p:bg>
      <p:bgPr>
        <a:solidFill>
          <a:schemeClr val="accent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16"/>
          <p:cNvGrpSpPr/>
          <p:nvPr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42" name="Google Shape;42;p16"/>
            <p:cNvSpPr/>
            <p:nvPr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6"/>
            <p:cNvSpPr/>
            <p:nvPr/>
          </p:nvSpPr>
          <p:spPr>
            <a:xfrm flipH="1">
              <a:off x="8597718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6"/>
            <p:cNvSpPr/>
            <p:nvPr/>
          </p:nvSpPr>
          <p:spPr>
            <a:xfrm>
              <a:off x="1" y="0"/>
              <a:ext cx="933856" cy="933856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6"/>
            <p:cNvSpPr/>
            <p:nvPr/>
          </p:nvSpPr>
          <p:spPr>
            <a:xfrm rot="-5400000">
              <a:off x="10344100" y="438098"/>
              <a:ext cx="2285999" cy="1409801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6"/>
          <p:cNvSpPr txBox="1"/>
          <p:nvPr>
            <p:ph type="title"/>
          </p:nvPr>
        </p:nvSpPr>
        <p:spPr>
          <a:xfrm>
            <a:off x="1167492" y="45085"/>
            <a:ext cx="9779183" cy="1600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1166087" y="2652713"/>
            <a:ext cx="9780587" cy="3436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10206318" y="6356350"/>
            <a:ext cx="16046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contenido e imagen 2">
  <p:cSld name="Título, contenido e imagen 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17"/>
          <p:cNvGrpSpPr/>
          <p:nvPr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53" name="Google Shape;53;p17"/>
            <p:cNvSpPr/>
            <p:nvPr/>
          </p:nvSpPr>
          <p:spPr>
            <a:xfrm rot="5400000">
              <a:off x="8580896" y="0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7"/>
            <p:cNvSpPr/>
            <p:nvPr/>
          </p:nvSpPr>
          <p:spPr>
            <a:xfrm>
              <a:off x="-2364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" name="Google Shape;55;p17"/>
            <p:cNvGrpSpPr/>
            <p:nvPr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56" name="Google Shape;56;p17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7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8" name="Google Shape;58;p17"/>
          <p:cNvSpPr txBox="1"/>
          <p:nvPr>
            <p:ph type="title"/>
          </p:nvPr>
        </p:nvSpPr>
        <p:spPr>
          <a:xfrm>
            <a:off x="5549489" y="457199"/>
            <a:ext cx="5943599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/>
          <p:nvPr>
            <p:ph idx="1" type="body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5549490" y="2706369"/>
            <a:ext cx="5943600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2 contenidos">
  <p:cSld name="Título y 2 contenidos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8"/>
          <p:cNvGrpSpPr/>
          <p:nvPr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66" name="Google Shape;66;p18"/>
            <p:cNvSpPr/>
            <p:nvPr/>
          </p:nvSpPr>
          <p:spPr>
            <a:xfrm flipH="1">
              <a:off x="8580896" y="1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8"/>
            <p:cNvSpPr/>
            <p:nvPr/>
          </p:nvSpPr>
          <p:spPr>
            <a:xfrm flipH="1" rot="5400000">
              <a:off x="1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18"/>
          <p:cNvSpPr txBox="1"/>
          <p:nvPr>
            <p:ph type="title"/>
          </p:nvPr>
        </p:nvSpPr>
        <p:spPr>
          <a:xfrm>
            <a:off x="1167492" y="69008"/>
            <a:ext cx="9779183" cy="1706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1167493" y="2023984"/>
            <a:ext cx="4663440" cy="333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lphaLcPeriod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arenR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lphaLcParenR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romanLcPeriod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6283235" y="2023984"/>
            <a:ext cx="4663440" cy="333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imagen derecha">
  <p:cSld name="Título e imagen derecha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9"/>
          <p:cNvGrpSpPr/>
          <p:nvPr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76" name="Google Shape;76;p19"/>
            <p:cNvSpPr/>
            <p:nvPr/>
          </p:nvSpPr>
          <p:spPr>
            <a:xfrm flipH="1">
              <a:off x="8580896" y="1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9"/>
            <p:cNvSpPr/>
            <p:nvPr/>
          </p:nvSpPr>
          <p:spPr>
            <a:xfrm flipH="1">
              <a:off x="8580896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9"/>
            <p:cNvSpPr/>
            <p:nvPr/>
          </p:nvSpPr>
          <p:spPr>
            <a:xfrm>
              <a:off x="1" y="0"/>
              <a:ext cx="933856" cy="933856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" name="Google Shape;79;p19"/>
            <p:cNvGrpSpPr/>
            <p:nvPr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80" name="Google Shape;80;p19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9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19"/>
          <p:cNvSpPr txBox="1"/>
          <p:nvPr>
            <p:ph type="title"/>
          </p:nvPr>
        </p:nvSpPr>
        <p:spPr>
          <a:xfrm>
            <a:off x="1167492" y="13716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/>
          <p:nvPr>
            <p:ph idx="2" type="pic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imagen izquierda">
  <p:cSld name="Título e imagen izquierda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0"/>
          <p:cNvGrpSpPr/>
          <p:nvPr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89" name="Google Shape;89;p20"/>
            <p:cNvSpPr/>
            <p:nvPr/>
          </p:nvSpPr>
          <p:spPr>
            <a:xfrm flipH="1">
              <a:off x="8580896" y="1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0"/>
            <p:cNvSpPr/>
            <p:nvPr/>
          </p:nvSpPr>
          <p:spPr>
            <a:xfrm flipH="1">
              <a:off x="8580896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0"/>
            <p:cNvSpPr/>
            <p:nvPr/>
          </p:nvSpPr>
          <p:spPr>
            <a:xfrm>
              <a:off x="1" y="0"/>
              <a:ext cx="933856" cy="933856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" name="Google Shape;92;p20"/>
            <p:cNvGrpSpPr/>
            <p:nvPr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93" name="Google Shape;93;p20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0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" name="Google Shape;95;p20"/>
          <p:cNvSpPr txBox="1"/>
          <p:nvPr>
            <p:ph type="title"/>
          </p:nvPr>
        </p:nvSpPr>
        <p:spPr>
          <a:xfrm>
            <a:off x="5943600" y="457200"/>
            <a:ext cx="5120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5943598" y="365760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20"/>
          <p:cNvSpPr/>
          <p:nvPr>
            <p:ph idx="2" type="pic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ón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3" name="Google Shape;103;p21"/>
            <p:cNvSpPr/>
            <p:nvPr/>
          </p:nvSpPr>
          <p:spPr>
            <a:xfrm>
              <a:off x="0" y="0"/>
              <a:ext cx="8025490" cy="6858000"/>
            </a:xfrm>
            <a:custGeom>
              <a:rect b="b" l="l" r="r" t="t"/>
              <a:pathLst>
                <a:path extrusionOk="0" h="6858000" w="802549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21"/>
            <p:cNvGrpSpPr/>
            <p:nvPr/>
          </p:nvGrpSpPr>
          <p:grpSpPr>
            <a:xfrm rot="-54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05" name="Google Shape;105;p21"/>
              <p:cNvSpPr/>
              <p:nvPr/>
            </p:nvSpPr>
            <p:spPr>
              <a:xfrm rot="-5400000">
                <a:off x="10667433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1"/>
              <p:cNvSpPr/>
              <p:nvPr/>
            </p:nvSpPr>
            <p:spPr>
              <a:xfrm flipH="1" rot="5400000">
                <a:off x="9499940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" name="Google Shape;107;p21"/>
            <p:cNvSpPr/>
            <p:nvPr/>
          </p:nvSpPr>
          <p:spPr>
            <a:xfrm flipH="1">
              <a:off x="8580896" y="1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 flipH="1">
              <a:off x="8580896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1"/>
          <p:cNvSpPr txBox="1"/>
          <p:nvPr>
            <p:ph type="ctrTitle"/>
          </p:nvPr>
        </p:nvSpPr>
        <p:spPr>
          <a:xfrm>
            <a:off x="1167494" y="177553"/>
            <a:ext cx="6245912" cy="32694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1167494" y="3492896"/>
            <a:ext cx="6245912" cy="912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Art 2">
  <p:cSld name="SmartArt 2">
    <p:bg>
      <p:bgPr>
        <a:solidFill>
          <a:schemeClr val="accen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2"/>
          <p:cNvGrpSpPr/>
          <p:nvPr/>
        </p:nvGrpSpPr>
        <p:grpSpPr>
          <a:xfrm rot="-54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13" name="Google Shape;113;p22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2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22"/>
          <p:cNvSpPr txBox="1"/>
          <p:nvPr>
            <p:ph type="title"/>
          </p:nvPr>
        </p:nvSpPr>
        <p:spPr>
          <a:xfrm>
            <a:off x="1167492" y="457200"/>
            <a:ext cx="9692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1167493" y="2087561"/>
            <a:ext cx="2693306" cy="3890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2" type="body"/>
          </p:nvPr>
        </p:nvSpPr>
        <p:spPr>
          <a:xfrm>
            <a:off x="4216400" y="2087563"/>
            <a:ext cx="6730274" cy="3890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contenido e imagen 1">
  <p:cSld name="Título, contenido e imagen 1">
    <p:bg>
      <p:bgPr>
        <a:solidFill>
          <a:schemeClr val="accen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3"/>
          <p:cNvGrpSpPr/>
          <p:nvPr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123" name="Google Shape;123;p23"/>
            <p:cNvSpPr/>
            <p:nvPr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3"/>
            <p:cNvSpPr/>
            <p:nvPr/>
          </p:nvSpPr>
          <p:spPr>
            <a:xfrm flipH="1">
              <a:off x="8597718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3"/>
            <p:cNvSpPr/>
            <p:nvPr/>
          </p:nvSpPr>
          <p:spPr>
            <a:xfrm>
              <a:off x="1" y="0"/>
              <a:ext cx="933856" cy="933856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23"/>
          <p:cNvSpPr txBox="1"/>
          <p:nvPr>
            <p:ph type="title"/>
          </p:nvPr>
        </p:nvSpPr>
        <p:spPr>
          <a:xfrm>
            <a:off x="1167492" y="457200"/>
            <a:ext cx="106435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1166088" y="2652713"/>
            <a:ext cx="5394959" cy="3436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/>
          <p:nvPr>
            <p:ph idx="2" type="pic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10206318" y="6356350"/>
            <a:ext cx="16046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áfico ">
  <p:cSld name="Gráfico ">
    <p:bg>
      <p:bgPr>
        <a:solidFill>
          <a:schemeClr val="accen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4"/>
          <p:cNvGrpSpPr/>
          <p:nvPr/>
        </p:nvGrpSpPr>
        <p:grpSpPr>
          <a:xfrm rot="-54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4" name="Google Shape;134;p24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4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24"/>
          <p:cNvSpPr txBox="1"/>
          <p:nvPr>
            <p:ph type="title"/>
          </p:nvPr>
        </p:nvSpPr>
        <p:spPr>
          <a:xfrm>
            <a:off x="1167492" y="136526"/>
            <a:ext cx="9779183" cy="1570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1167493" y="2084832"/>
            <a:ext cx="9779182" cy="336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0" type="dt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izar diapositiva">
  <p:cSld name="Finalizar diapositiva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5"/>
          <p:cNvGrpSpPr/>
          <p:nvPr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143" name="Google Shape;143;p25"/>
            <p:cNvSpPr/>
            <p:nvPr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" name="Google Shape;144;p25"/>
            <p:cNvGrpSpPr/>
            <p:nvPr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45" name="Google Shape;145;p25"/>
              <p:cNvSpPr/>
              <p:nvPr/>
            </p:nvSpPr>
            <p:spPr>
              <a:xfrm rot="-5400000">
                <a:off x="10667433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5"/>
              <p:cNvSpPr/>
              <p:nvPr/>
            </p:nvSpPr>
            <p:spPr>
              <a:xfrm flipH="1" rot="5400000">
                <a:off x="9499940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" name="Google Shape;147;p25"/>
            <p:cNvSpPr/>
            <p:nvPr/>
          </p:nvSpPr>
          <p:spPr>
            <a:xfrm>
              <a:off x="0" y="-1"/>
              <a:ext cx="1167493" cy="1167493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10228214" y="-1"/>
              <a:ext cx="1963787" cy="3178856"/>
            </a:xfrm>
            <a:custGeom>
              <a:rect b="b" l="l" r="r" t="t"/>
              <a:pathLst>
                <a:path extrusionOk="0" h="3178856" w="1963787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25"/>
          <p:cNvSpPr txBox="1"/>
          <p:nvPr>
            <p:ph type="ctrTitle"/>
          </p:nvPr>
        </p:nvSpPr>
        <p:spPr>
          <a:xfrm>
            <a:off x="1167494" y="252549"/>
            <a:ext cx="6220278" cy="3262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1167493" y="3685939"/>
            <a:ext cx="6220277" cy="291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en 2 columnas">
  <p:cSld name="Título y contenido en 2 columna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6"/>
          <p:cNvGrpSpPr/>
          <p:nvPr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153" name="Google Shape;153;p26"/>
            <p:cNvSpPr/>
            <p:nvPr/>
          </p:nvSpPr>
          <p:spPr>
            <a:xfrm flipH="1">
              <a:off x="8580896" y="1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flipH="1">
              <a:off x="8580896" y="3246896"/>
              <a:ext cx="3611104" cy="3611104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1" y="0"/>
              <a:ext cx="933856" cy="933856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26"/>
            <p:cNvGrpSpPr/>
            <p:nvPr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157" name="Google Shape;157;p26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6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9" name="Google Shape;159;p26"/>
          <p:cNvSpPr txBox="1"/>
          <p:nvPr>
            <p:ph type="title"/>
          </p:nvPr>
        </p:nvSpPr>
        <p:spPr>
          <a:xfrm>
            <a:off x="1167492" y="136526"/>
            <a:ext cx="9601200" cy="16533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167493" y="2023984"/>
            <a:ext cx="4663440" cy="333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2" type="body"/>
          </p:nvPr>
        </p:nvSpPr>
        <p:spPr>
          <a:xfrm>
            <a:off x="6283235" y="2023984"/>
            <a:ext cx="4663440" cy="333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9.xm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1.xml"/><Relationship Id="rId4" Type="http://schemas.openxmlformats.org/officeDocument/2006/relationships/image" Target="../media/image1.png"/><Relationship Id="rId5" Type="http://schemas.openxmlformats.org/officeDocument/2006/relationships/hyperlink" Target="https://docs.google.com/spreadsheets/d/1kk6Htx4rCJst-khosgJwXRfbXftHU5eW/edit?usp=drive_link&amp;ouid=114111221671220140431&amp;rtpof=true&amp;sd=tru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3.xml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"/>
          <p:cNvSpPr txBox="1"/>
          <p:nvPr>
            <p:ph type="ctrTitle"/>
          </p:nvPr>
        </p:nvSpPr>
        <p:spPr>
          <a:xfrm>
            <a:off x="1167493" y="1647731"/>
            <a:ext cx="7096933" cy="16819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Final Capstone</a:t>
            </a:r>
            <a:endParaRPr b="1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1167493" y="3429000"/>
            <a:ext cx="5120640" cy="871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800">
                <a:solidFill>
                  <a:schemeClr val="dk1"/>
                </a:solidFill>
              </a:rPr>
              <a:t>Sistema integrado de salud pública (SISP)</a:t>
            </a:r>
            <a:endParaRPr/>
          </a:p>
        </p:txBody>
      </p:sp>
      <p:sp>
        <p:nvSpPr>
          <p:cNvPr id="172" name="Google Shape;172;p1"/>
          <p:cNvSpPr txBox="1"/>
          <p:nvPr/>
        </p:nvSpPr>
        <p:spPr>
          <a:xfrm>
            <a:off x="2542111" y="4966580"/>
            <a:ext cx="5120640" cy="179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Ingeniería en informática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Escuela de Informática y Telecomunicaciones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Sede Puente alto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"/>
          <p:cNvSpPr txBox="1"/>
          <p:nvPr>
            <p:ph type="title"/>
          </p:nvPr>
        </p:nvSpPr>
        <p:spPr>
          <a:xfrm>
            <a:off x="1158864" y="642795"/>
            <a:ext cx="9779183" cy="7871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Integrantes del proyecto</a:t>
            </a:r>
            <a:endParaRPr/>
          </a:p>
        </p:txBody>
      </p:sp>
      <p:sp>
        <p:nvSpPr>
          <p:cNvPr id="179" name="Google Shape;179;p2"/>
          <p:cNvSpPr txBox="1"/>
          <p:nvPr>
            <p:ph idx="1" type="body"/>
          </p:nvPr>
        </p:nvSpPr>
        <p:spPr>
          <a:xfrm>
            <a:off x="1158864" y="1766756"/>
            <a:ext cx="7324200" cy="4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/>
              <a:t>Alex Pavez</a:t>
            </a:r>
            <a:endParaRPr/>
          </a:p>
          <a:p>
            <a:pPr indent="-140970" lvl="0" marL="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ES" sz="2400"/>
              <a:t> Desarrollador</a:t>
            </a:r>
            <a:endParaRPr/>
          </a:p>
          <a:p>
            <a:pPr indent="-140970" lvl="0" marL="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ES" sz="2400"/>
              <a:t> Desarrollo de módulos del aplicativo</a:t>
            </a:r>
            <a:endParaRPr sz="2400"/>
          </a:p>
          <a:p>
            <a:pPr indent="-19050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ES" sz="2400"/>
              <a:t>Alex Oliva</a:t>
            </a:r>
            <a:endParaRPr/>
          </a:p>
          <a:p>
            <a:pPr indent="-140970" lvl="0" marL="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ES" sz="2400"/>
              <a:t> Jefe de proyecto</a:t>
            </a:r>
            <a:endParaRPr/>
          </a:p>
          <a:p>
            <a:pPr indent="-140970" lvl="0" marL="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ES" sz="2400"/>
              <a:t> Desarrollo de módulos web de gestión administrativa </a:t>
            </a:r>
            <a:endParaRPr/>
          </a:p>
          <a:p>
            <a:pPr indent="-19050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ES" sz="2400"/>
              <a:t>Alan Moreno</a:t>
            </a:r>
            <a:endParaRPr/>
          </a:p>
          <a:p>
            <a:pPr indent="-140970" lvl="0" marL="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ES" sz="2400"/>
              <a:t> Desarrollador </a:t>
            </a:r>
            <a:endParaRPr/>
          </a:p>
          <a:p>
            <a:pPr indent="-140970" lvl="0" marL="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ES" sz="2400"/>
              <a:t> Desarrollo de módulos del aplicativo y planificación de arquitectura cloud</a:t>
            </a:r>
            <a:endParaRPr b="1" sz="2400"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"/>
          <p:cNvSpPr txBox="1"/>
          <p:nvPr>
            <p:ph type="title"/>
          </p:nvPr>
        </p:nvSpPr>
        <p:spPr>
          <a:xfrm>
            <a:off x="1166813" y="1032095"/>
            <a:ext cx="9779183" cy="713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/>
          </a:p>
        </p:txBody>
      </p:sp>
      <p:sp>
        <p:nvSpPr>
          <p:cNvPr id="186" name="Google Shape;186;p3"/>
          <p:cNvSpPr txBox="1"/>
          <p:nvPr>
            <p:ph idx="1" type="body"/>
          </p:nvPr>
        </p:nvSpPr>
        <p:spPr>
          <a:xfrm>
            <a:off x="1166813" y="2652713"/>
            <a:ext cx="4165677" cy="343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59435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</a:rPr>
              <a:t>Problema o dolor</a:t>
            </a:r>
            <a:endParaRPr b="1"/>
          </a:p>
          <a:p>
            <a:pPr indent="-273939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fragmentación y el acceso a la información de salud pública en Chile. Actualmente, los usuarios enfrentan problemas para localizar medicamentos y horas médicas.</a:t>
            </a:r>
            <a:endParaRPr/>
          </a:p>
          <a:p>
            <a:pPr indent="-273939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su vez, los proveedores de salud (pequeñas farmacias y centros médicos) carecen de herramientas digitales unificadas para gestionar sus inventarios y agendas de manera eficiente.</a:t>
            </a:r>
            <a:endParaRPr/>
          </a:p>
        </p:txBody>
      </p:sp>
      <p:sp>
        <p:nvSpPr>
          <p:cNvPr id="187" name="Google Shape;187;p3"/>
          <p:cNvSpPr txBox="1"/>
          <p:nvPr/>
        </p:nvSpPr>
        <p:spPr>
          <a:xfrm>
            <a:off x="6096000" y="2652713"/>
            <a:ext cx="4360752" cy="343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943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</a:rPr>
              <a:t>Propuesta solución</a:t>
            </a:r>
            <a:endParaRPr b="1" sz="2000"/>
          </a:p>
          <a:p>
            <a:pPr indent="-289814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lt1"/>
                </a:solidFill>
              </a:rPr>
              <a:t>Aplicación móvil la cual permita la c</a:t>
            </a: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ompra de medicamentos y</a:t>
            </a:r>
            <a:r>
              <a:rPr lang="es-ES" sz="2000">
                <a:solidFill>
                  <a:schemeClr val="lt1"/>
                </a:solidFill>
              </a:rPr>
              <a:t> reservas de horas </a:t>
            </a:r>
            <a:r>
              <a:rPr lang="es-ES" sz="2000">
                <a:solidFill>
                  <a:schemeClr val="lt1"/>
                </a:solidFill>
              </a:rPr>
              <a:t>médicas</a:t>
            </a: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en línea</a:t>
            </a:r>
            <a:r>
              <a:rPr lang="es-ES" sz="2000">
                <a:solidFill>
                  <a:schemeClr val="lt1"/>
                </a:solidFill>
              </a:rPr>
              <a:t>.</a:t>
            </a:r>
            <a:endParaRPr sz="2000"/>
          </a:p>
          <a:p>
            <a:pPr indent="-289814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Plataforma de gestión para farmacias y centros de salud.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/>
          <p:nvPr>
            <p:ph type="title"/>
          </p:nvPr>
        </p:nvSpPr>
        <p:spPr>
          <a:xfrm>
            <a:off x="5549489" y="457199"/>
            <a:ext cx="5943599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</p:txBody>
      </p:sp>
      <p:sp>
        <p:nvSpPr>
          <p:cNvPr id="194" name="Google Shape;194;p4"/>
          <p:cNvSpPr/>
          <p:nvPr>
            <p:ph idx="1" type="body"/>
          </p:nvPr>
        </p:nvSpPr>
        <p:spPr>
          <a:xfrm>
            <a:off x="698912" y="653813"/>
            <a:ext cx="4322270" cy="41057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sistema que centralice los centros de salud en un dispositivo, permitiendo agendar </a:t>
            </a:r>
            <a:r>
              <a:rPr lang="es-ES"/>
              <a:t>horas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comprar medicamentos y ofrecer herramientas de gestión para proveedores.</a:t>
            </a:r>
            <a:endParaRPr/>
          </a:p>
        </p:txBody>
      </p:sp>
      <p:sp>
        <p:nvSpPr>
          <p:cNvPr id="195" name="Google Shape;195;p4"/>
          <p:cNvSpPr txBox="1"/>
          <p:nvPr>
            <p:ph idx="2" type="body"/>
          </p:nvPr>
        </p:nvSpPr>
        <p:spPr>
          <a:xfrm>
            <a:off x="5549899" y="2706687"/>
            <a:ext cx="5818993" cy="3694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28346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portal web administrativo seguro que permita a dueños de farmacias y administradores de centros de salud gestionar roles, inventarios de medicamentos, colaboradores y agendas médicas.</a:t>
            </a:r>
            <a:endParaRPr/>
          </a:p>
          <a:p>
            <a:pPr indent="-283464" lvl="0" marL="28346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en la aplicación móvil un motor de búsqueda eficiente con mapas interactivos para mejorar la experiencia del paciente, a la hora de </a:t>
            </a:r>
            <a:r>
              <a:rPr lang="es-ES"/>
              <a:t>agendar horas </a:t>
            </a:r>
            <a:r>
              <a:rPr lang="es-ES"/>
              <a:t>médicas</a:t>
            </a:r>
            <a:r>
              <a:rPr lang="es-ES"/>
              <a:t> y compra de medicamentos online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/>
          <p:nvPr>
            <p:ph type="title"/>
          </p:nvPr>
        </p:nvSpPr>
        <p:spPr>
          <a:xfrm>
            <a:off x="1166825" y="311925"/>
            <a:ext cx="100401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Alcances y limitaciones del proyecto</a:t>
            </a:r>
            <a:endParaRPr/>
          </a:p>
        </p:txBody>
      </p:sp>
      <p:sp>
        <p:nvSpPr>
          <p:cNvPr id="202" name="Google Shape;202;p5"/>
          <p:cNvSpPr txBox="1"/>
          <p:nvPr>
            <p:ph idx="1" type="body"/>
          </p:nvPr>
        </p:nvSpPr>
        <p:spPr>
          <a:xfrm>
            <a:off x="1166825" y="1426475"/>
            <a:ext cx="4579200" cy="4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es-E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 hace el Sistema:</a:t>
            </a:r>
            <a:endParaRPr/>
          </a:p>
          <a:p>
            <a:pPr indent="-530383" lvl="0" marL="530352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b="0" i="0" lang="es-E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Reserva de horas médicas </a:t>
            </a:r>
            <a:r>
              <a:rPr lang="es-ES" sz="2900"/>
              <a:t>en hospitales cercanos a la ubicación del usuario</a:t>
            </a:r>
            <a:r>
              <a:rPr b="0" i="0" lang="es-E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desde la comodidad de la casa d</a:t>
            </a:r>
            <a:r>
              <a:rPr lang="es-ES" sz="2900"/>
              <a:t>e </a:t>
            </a:r>
            <a:r>
              <a:rPr lang="es-ES" sz="2900"/>
              <a:t>manera más optimizada</a:t>
            </a:r>
            <a:r>
              <a:rPr b="0" i="0" lang="es-E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900"/>
          </a:p>
          <a:p>
            <a:pPr indent="-518445" lvl="0" marL="530352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s-ES" sz="2900"/>
              <a:t>búsqueda de medicamentos filtrados por precio más bajo o cercanía </a:t>
            </a:r>
            <a:endParaRPr sz="2900"/>
          </a:p>
          <a:p>
            <a:pPr indent="-530383" lvl="0" marL="530352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b="0" i="0" lang="es-E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Garantiza un ahorro de tiempo bastante importante en la compra de medicamentos.</a:t>
            </a:r>
            <a:endParaRPr/>
          </a:p>
          <a:p>
            <a:pPr indent="-530383" lvl="0" marL="530352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b="0" i="0" lang="es-E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Historial de compras y de reserva de horas de manera mucho más accesible.</a:t>
            </a:r>
            <a:endParaRPr/>
          </a:p>
        </p:txBody>
      </p:sp>
      <p:sp>
        <p:nvSpPr>
          <p:cNvPr id="203" name="Google Shape;203;p5"/>
          <p:cNvSpPr txBox="1"/>
          <p:nvPr>
            <p:ph idx="2" type="body"/>
          </p:nvPr>
        </p:nvSpPr>
        <p:spPr>
          <a:xfrm>
            <a:off x="6286500" y="1426474"/>
            <a:ext cx="4413300" cy="4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Qué no hace: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se realizan diagnósticos médicos.</a:t>
            </a:r>
            <a:endParaRPr sz="1800"/>
          </a:p>
          <a:p>
            <a:pPr indent="-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prescribe medicamentos.</a:t>
            </a:r>
            <a:endParaRPr sz="1800"/>
          </a:p>
          <a:p>
            <a:pPr indent="-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reemplaza la consulta médica presencial.</a:t>
            </a:r>
            <a:endParaRPr sz="1800"/>
          </a:p>
          <a:p>
            <a:pPr indent="-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mejora el flujo de atención médica, solo lo optimiza.</a:t>
            </a:r>
            <a:endParaRPr sz="1800"/>
          </a:p>
          <a:p>
            <a:pPr indent="-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garantiza que el ciudadano será atendido más rápido, solo garantiza la reserva de hora y compra de medicamento de manera </a:t>
            </a:r>
            <a:r>
              <a:rPr lang="es-ES" sz="1800"/>
              <a:t>más</a:t>
            </a: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cómoda.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557088" y="1622834"/>
            <a:ext cx="3739081" cy="3612332"/>
          </a:xfrm>
          <a:prstGeom prst="ellipse">
            <a:avLst/>
          </a:prstGeom>
          <a:solidFill>
            <a:srgbClr val="BACEE1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Requerimientos funcionales</a:t>
            </a:r>
            <a:endParaRPr sz="1100"/>
          </a:p>
        </p:txBody>
      </p:sp>
      <p:graphicFrame>
        <p:nvGraphicFramePr>
          <p:cNvPr id="210" name="Google Shape;210;p6"/>
          <p:cNvGraphicFramePr/>
          <p:nvPr/>
        </p:nvGraphicFramePr>
        <p:xfrm>
          <a:off x="4683056" y="6083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{A5C1A8E2-BA37-48E7-AF85-3F3DE09DCBDC}</a:tableStyleId>
              </a:tblPr>
              <a:tblGrid>
                <a:gridCol w="601750"/>
                <a:gridCol w="2492125"/>
                <a:gridCol w="1201700"/>
                <a:gridCol w="2399175"/>
              </a:tblGrid>
              <a:tr h="36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Inicio de sesión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usuarios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Autenticación y roles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Visualización de centros de salud en mapa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Búsqueda de medicamentos listando stock y precio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Geolocalización automática del Ciudadano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Reserva de horas médicas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Compra de medicamentos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Apartado de historial de compras (Ordenes)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Mantenimiento de información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Generación de reportes de uso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525" marB="85525" marR="85525" marL="855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6"/>
          <p:cNvSpPr/>
          <p:nvPr/>
        </p:nvSpPr>
        <p:spPr>
          <a:xfrm>
            <a:off x="1456399" y="185773"/>
            <a:ext cx="6574025" cy="295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7673111" y="1622834"/>
            <a:ext cx="3739081" cy="3612332"/>
          </a:xfrm>
          <a:prstGeom prst="ellipse">
            <a:avLst/>
          </a:prstGeom>
          <a:solidFill>
            <a:srgbClr val="BACEE1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Requerimientos no funcionales</a:t>
            </a:r>
            <a:endParaRPr sz="1100"/>
          </a:p>
        </p:txBody>
      </p:sp>
      <p:graphicFrame>
        <p:nvGraphicFramePr>
          <p:cNvPr id="218" name="Google Shape;218;p7"/>
          <p:cNvGraphicFramePr/>
          <p:nvPr/>
        </p:nvGraphicFramePr>
        <p:xfrm>
          <a:off x="779808" y="9687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{A5C1A8E2-BA37-48E7-AF85-3F3DE09DCBDC}</a:tableStyleId>
              </a:tblPr>
              <a:tblGrid>
                <a:gridCol w="605375"/>
                <a:gridCol w="2526525"/>
                <a:gridCol w="1013375"/>
                <a:gridCol w="2118500"/>
              </a:tblGrid>
              <a:tr h="34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Interfaz intuitiva y accesible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responsivo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Rendimiento de consultas (&gt;3 seg)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Disponibilidad del sistema (99%)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Autenticación segura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modular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Integración con APIs externas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de acceso por roles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 de usuarios concurrentes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s-E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7"/>
          <p:cNvSpPr/>
          <p:nvPr/>
        </p:nvSpPr>
        <p:spPr>
          <a:xfrm>
            <a:off x="997767" y="1973735"/>
            <a:ext cx="69186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type="ctrTitle"/>
          </p:nvPr>
        </p:nvSpPr>
        <p:spPr>
          <a:xfrm>
            <a:off x="1167494" y="516048"/>
            <a:ext cx="5966638" cy="16544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Diseño del sistema</a:t>
            </a:r>
            <a:endParaRPr/>
          </a:p>
        </p:txBody>
      </p:sp>
      <p:sp>
        <p:nvSpPr>
          <p:cNvPr id="226" name="Google Shape;226;p8"/>
          <p:cNvSpPr txBox="1"/>
          <p:nvPr>
            <p:ph idx="1" type="subTitle"/>
          </p:nvPr>
        </p:nvSpPr>
        <p:spPr>
          <a:xfrm>
            <a:off x="425109" y="2027976"/>
            <a:ext cx="6245912" cy="4200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Base de datos NoSQL orientada a documentos, en la nube (Infraestructura c</a:t>
            </a:r>
            <a:r>
              <a:rPr lang="es-ES" sz="1400"/>
              <a:t>loud)</a:t>
            </a: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con sincronización en tiempo real.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clave: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Escalabilidad automática: </a:t>
            </a: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crecimiento sin configurar servidores.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Seguridad por reglas: </a:t>
            </a: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de acceso granular por usuario, rol y campos.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Sincronización real-time:</a:t>
            </a: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actualizaciones instantáneas en todos los dispositivos</a:t>
            </a:r>
            <a:r>
              <a:rPr lang="es-ES" sz="1400"/>
              <a:t>.</a:t>
            </a:r>
            <a:b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Relaciones mediante IDs, arrays y colecciones puente para muchos-a-muchos.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225599" y="269325"/>
            <a:ext cx="87852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y arquitectura del sistema</a:t>
            </a:r>
            <a:endParaRPr/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8963" y="1964137"/>
            <a:ext cx="6084332" cy="4215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0800" y="305025"/>
            <a:ext cx="1732050" cy="61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 txBox="1"/>
          <p:nvPr/>
        </p:nvSpPr>
        <p:spPr>
          <a:xfrm>
            <a:off x="289050" y="1288872"/>
            <a:ext cx="86583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800">
                <a:solidFill>
                  <a:schemeClr val="dk1"/>
                </a:solidFill>
              </a:rPr>
              <a:t>Arquitectura multicapa basada en la nube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>
            <p:ph type="title"/>
          </p:nvPr>
        </p:nvSpPr>
        <p:spPr>
          <a:xfrm>
            <a:off x="1167492" y="457200"/>
            <a:ext cx="106435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i="0" lang="es-ES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Tecnologías de desarrollo</a:t>
            </a:r>
            <a:endParaRPr/>
          </a:p>
        </p:txBody>
      </p:sp>
      <p:sp>
        <p:nvSpPr>
          <p:cNvPr id="242" name="Google Shape;242;p10"/>
          <p:cNvSpPr txBox="1"/>
          <p:nvPr>
            <p:ph idx="1" type="body"/>
          </p:nvPr>
        </p:nvSpPr>
        <p:spPr>
          <a:xfrm>
            <a:off x="270521" y="2507858"/>
            <a:ext cx="4102200" cy="3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Ionic Framework 8.0.0 - Framework híbrido multiplataforma</a:t>
            </a:r>
            <a:endParaRPr/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Angular 20.0.0 - Framework web progresivo</a:t>
            </a:r>
            <a:endParaRPr/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TypeScript 5.8.0 - Lenguaje tipado</a:t>
            </a:r>
            <a:endParaRPr/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HTML5/CSS3/SCSS - Maquetación y estilos</a:t>
            </a:r>
            <a:endParaRPr/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Capacitor 7.4.3 - Bridge nativo Android/iOS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Backend y Database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Firebase Auth - Gestión de usuarios</a:t>
            </a:r>
            <a:endParaRPr/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Firestore - Base de datos NoSQL en tiempo real</a:t>
            </a:r>
            <a:endParaRPr/>
          </a:p>
          <a:p>
            <a:pPr indent="-283495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Functions - Lógica de servidor serverless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4372825" y="2644658"/>
            <a:ext cx="5223900" cy="4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APIs y Servicios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Google Maps API 3.58.1 - Geolocalización y mapas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Transbank SDK 6.1.0 - Pasarela de pagos Webpay Plus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GeoFire-Common 6.0.0 - Consultas geoespaciales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Herramientas de Desarrollo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Node.js 20.10.0 - Entorno de ejecución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Angular CLI 20.0.0 - Herramienta de línea de comandos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 2.42+ - Control de versiones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 Code - Editor de código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>
                <a:solidFill>
                  <a:schemeClr val="lt1"/>
                </a:solidFill>
              </a:rPr>
              <a:t>Android Studio - Editor de código para Aplicaciones </a:t>
            </a:r>
            <a:r>
              <a:rPr lang="es-ES">
                <a:solidFill>
                  <a:schemeClr val="lt1"/>
                </a:solidFill>
              </a:rPr>
              <a:t>móviles</a:t>
            </a:r>
            <a:r>
              <a:rPr lang="es-ES">
                <a:solidFill>
                  <a:schemeClr val="lt1"/>
                </a:solidFill>
              </a:rPr>
              <a:t>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>
            <p:ph type="title"/>
          </p:nvPr>
        </p:nvSpPr>
        <p:spPr>
          <a:xfrm>
            <a:off x="1167492" y="136526"/>
            <a:ext cx="9779183" cy="1570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s-ES"/>
              <a:t>Planificación</a:t>
            </a:r>
            <a:r>
              <a:rPr b="1" i="0" lang="es-ES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(Linea de tiempo)</a:t>
            </a:r>
            <a:endParaRPr/>
          </a:p>
        </p:txBody>
      </p:sp>
      <p:pic>
        <p:nvPicPr>
          <p:cNvPr id="250" name="Google Shape;250;p11" title="Gantt resum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0250" y="2117838"/>
            <a:ext cx="4847324" cy="2873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1" name="Google Shape;251;p11"/>
          <p:cNvGraphicFramePr/>
          <p:nvPr/>
        </p:nvGraphicFramePr>
        <p:xfrm>
          <a:off x="710275" y="211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{EA0CE6C7-AD45-4657-8CCE-2EB6E7C95018}</a:tableStyleId>
              </a:tblPr>
              <a:tblGrid>
                <a:gridCol w="2274500"/>
                <a:gridCol w="1389000"/>
                <a:gridCol w="1516900"/>
              </a:tblGrid>
              <a:tr h="51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/>
                        <a:t>Fase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/>
                        <a:t>Periodo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200"/>
                        <a:t>Duración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1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Iniciación y Planificación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01-08 Ago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1 semana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Diseño y Prototipado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09-21 Ago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 semanas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Sprint 1: Autenticación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22 Ago - 05 Sep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 semanas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Sprint 2: Búsqueda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06-26 Sep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3 semanas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Sprint 3: Pagos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27 Sep - 08 Nov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6 semanas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1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Sprint 4: Reservas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09-28 Nov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3 semanas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Cierre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29 Nov - 01 Dic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3 días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2" name="Google Shape;252;p11"/>
          <p:cNvSpPr txBox="1"/>
          <p:nvPr/>
        </p:nvSpPr>
        <p:spPr>
          <a:xfrm>
            <a:off x="6651375" y="5244350"/>
            <a:ext cx="4847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Documento Gantt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3e78b3219_1_0"/>
          <p:cNvSpPr txBox="1"/>
          <p:nvPr>
            <p:ph type="title"/>
          </p:nvPr>
        </p:nvSpPr>
        <p:spPr>
          <a:xfrm>
            <a:off x="1167492" y="45085"/>
            <a:ext cx="9779100" cy="160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Plan de Pruebas Desarrollo</a:t>
            </a:r>
            <a:endParaRPr/>
          </a:p>
        </p:txBody>
      </p:sp>
      <p:sp>
        <p:nvSpPr>
          <p:cNvPr id="259" name="Google Shape;259;g3a3e78b3219_1_0"/>
          <p:cNvSpPr txBox="1"/>
          <p:nvPr>
            <p:ph idx="1" type="body"/>
          </p:nvPr>
        </p:nvSpPr>
        <p:spPr>
          <a:xfrm>
            <a:off x="1270023" y="2471717"/>
            <a:ext cx="3800100" cy="416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Char char="•"/>
            </a:pPr>
            <a:r>
              <a:rPr b="1" lang="es-ES" sz="1100"/>
              <a:t>CICLOS DE PRUEBA</a:t>
            </a:r>
            <a:endParaRPr b="1"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100"/>
              <a:t>Ciclo 1 (16-30 Nov): Pruebas Funcionales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100"/>
              <a:t>Ciclo 2 (1-6 Dic): Integración APIs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100"/>
              <a:t>Ciclo 3 (7-13 Dic): Aceptación (UAT)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100"/>
              <a:t>Ciclo Final (14-15 Dic): Validación Integral</a:t>
            </a:r>
            <a:endParaRPr sz="1100"/>
          </a:p>
          <a:p>
            <a:pPr indent="-2984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Char char="•"/>
            </a:pPr>
            <a:r>
              <a:rPr b="1" lang="es-ES" sz="1100"/>
              <a:t>TIPO DE PRUEBAS</a:t>
            </a:r>
            <a:endParaRPr b="1"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ES" sz="1100"/>
              <a:t>Unitarias - Componentes Ionic/Angular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ES" sz="1100"/>
              <a:t>Integración - Firebase + APIs externas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ES" sz="1100"/>
              <a:t>Funcionales - 16 Casos de Uso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ES" sz="1100"/>
              <a:t>Base de Datos - 40+ escenarios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es-ES" sz="1100"/>
              <a:t>Usabilidad - Experiencia móvil</a:t>
            </a:r>
            <a:endParaRPr sz="1100"/>
          </a:p>
          <a:p>
            <a:pPr indent="-2984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Char char="•"/>
            </a:pPr>
            <a:r>
              <a:rPr b="1" lang="es-ES" sz="1100"/>
              <a:t>CRITERIOS DE ACEPTACIÓN</a:t>
            </a:r>
            <a:endParaRPr b="1"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/>
              <a:t>100% pruebas críticas aprobadas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/>
              <a:t>0 defectos críticos en producción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/>
              <a:t>95% cobertura de casos de prueba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/>
              <a:t>Aprobación UAT por usuarios finales</a:t>
            </a:r>
            <a:endParaRPr sz="11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"/>
          </a:p>
        </p:txBody>
      </p:sp>
      <p:sp>
        <p:nvSpPr>
          <p:cNvPr id="260" name="Google Shape;260;g3a3e78b3219_1_0"/>
          <p:cNvSpPr txBox="1"/>
          <p:nvPr/>
        </p:nvSpPr>
        <p:spPr>
          <a:xfrm>
            <a:off x="5546550" y="23251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PRUEBAS CLAVE POR MÓDULO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1" name="Google Shape;261;g3a3e78b3219_1_0"/>
          <p:cNvGraphicFramePr/>
          <p:nvPr/>
        </p:nvGraphicFramePr>
        <p:xfrm>
          <a:off x="5546550" y="2735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{EA0CE6C7-AD45-4657-8CCE-2EB6E7C95018}</a:tableStyleId>
              </a:tblPr>
              <a:tblGrid>
                <a:gridCol w="1988075"/>
                <a:gridCol w="1988075"/>
              </a:tblGrid>
              <a:tr h="77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u="sng">
                          <a:solidFill>
                            <a:schemeClr val="lt1"/>
                          </a:solidFill>
                        </a:rPr>
                        <a:t>Módulo	</a:t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ES" u="sng">
                          <a:solidFill>
                            <a:schemeClr val="lt1"/>
                          </a:solidFill>
                        </a:rPr>
                        <a:t>Pruebas Críticas</a:t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Autenticación	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Login, Roles, Permisos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Mapas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Geolocalización, Farmacias turno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Medicamentos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Stock, Precios, Búsqueda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Transacciones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Pagos, Reservas, Historial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/>
          <p:nvPr>
            <p:ph type="title"/>
          </p:nvPr>
        </p:nvSpPr>
        <p:spPr>
          <a:xfrm>
            <a:off x="500400" y="1371600"/>
            <a:ext cx="6847800" cy="411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4400">
                <a:latin typeface="Calibri"/>
                <a:ea typeface="Calibri"/>
                <a:cs typeface="Calibri"/>
                <a:sym typeface="Calibri"/>
              </a:rPr>
              <a:t>Resultado del Proyecto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4400">
                <a:latin typeface="Calibri"/>
                <a:ea typeface="Calibri"/>
                <a:cs typeface="Calibri"/>
                <a:sym typeface="Calibri"/>
              </a:rPr>
              <a:t>(Demostración tipo Speech)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2" title="Impactful Logo for Health Organization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28" r="228" t="0"/>
          <a:stretch/>
        </p:blipFill>
        <p:spPr>
          <a:xfrm>
            <a:off x="7183438" y="1168400"/>
            <a:ext cx="4500600" cy="452130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3e78b3219_2_8"/>
          <p:cNvSpPr txBox="1"/>
          <p:nvPr>
            <p:ph type="title"/>
          </p:nvPr>
        </p:nvSpPr>
        <p:spPr>
          <a:xfrm>
            <a:off x="5088950" y="381000"/>
            <a:ext cx="5120700" cy="1731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Reflexiones Finales</a:t>
            </a:r>
            <a:endParaRPr/>
          </a:p>
        </p:txBody>
      </p:sp>
      <p:pic>
        <p:nvPicPr>
          <p:cNvPr id="275" name="Google Shape;275;g3a3e78b3219_2_8" title="log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399" y="381000"/>
            <a:ext cx="2934700" cy="637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a3e78b3219_2_8"/>
          <p:cNvSpPr txBox="1"/>
          <p:nvPr/>
        </p:nvSpPr>
        <p:spPr>
          <a:xfrm>
            <a:off x="4870625" y="2399275"/>
            <a:ext cx="5725500" cy="52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s-ES" sz="1900">
                <a:solidFill>
                  <a:schemeClr val="dk1"/>
                </a:solidFill>
              </a:rPr>
              <a:t>El Desafío de la Integración Financiera (A)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s-ES" sz="1900">
                <a:solidFill>
                  <a:schemeClr val="dk1"/>
                </a:solidFill>
              </a:rPr>
              <a:t>La Importancia de la Estimación Realista (P)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s-ES" sz="1900">
                <a:solidFill>
                  <a:schemeClr val="dk1"/>
                </a:solidFill>
              </a:rPr>
              <a:t>Crecimiento Profesional (O)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2025-12-02T16:28:30Z</dcterms:created>
  <dc:creator>Alex Pavez Fredes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